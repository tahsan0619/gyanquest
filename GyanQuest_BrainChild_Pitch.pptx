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Bruner, not the product. Three modes: enactive (do), iconic (see), symbolic (name). Spiral curriculum: same idea, higher grain, not a harder chapter dumped as level 10. Then: GyanQuest is this spiral made into software. The CSS class in code is chem-intro__brunner; the citation in the PDF is Bruner 1966.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objectives, PDF section 3. Stress 05: Groq down still means class runs. Stress 02: 3D is Specimen Lab, not every lesson. Ages 9-16, village computer class and city coaching center run the same titles.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PDF section 2. Cover banner and problem say STEAM; the abstract still says STEM once. Say STEAM out loud. Right panel is PDF section 12 (typical EdTech vs GyanQuest), inverted as the failure mode. Do not attack named products.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August 2026 catalog from the PDF table. Do not read all 28 names. Honesty from the report: not every 28×10×10 cell is a unique authored story yet. Force Fighter and uniqueness-pass titles carry the deepest labs. Stubs exist on purpose. Four layers: canvas leads; AI is optional.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and cover: STEAM. Arts is not a drawing class. Arts in this product: bilingual writing, book craft, myth narrative, dual-coded visuals, Specimen Lab as inspection theater. Impact line from PDF: converting curriculum into mastery-gated missions at the cost of a browser, not a hardware lab. Pause on A. Then fluency lock.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on Bruner if time is short. Sources: PDF layers table + engine/js/book-theory.js + pedagogy.js. Coach: 3 correct = on a roll; 2 wrong = simpler take. Mastery locked in persist.js canEnterMastery at 0.8. Do not invent extra theories. Do not claim a full adaptive engine.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Point at the gold 80% box. Engine cycle from PDF section 6 and pedagogy.js runPreMission: recall → objective compass → predict → act → feedback → fluency → mastery. Then: we will show it live.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thank the jury on this slide. Open the browser. Landing, one Force Fighter or Bio Explorer mission through fluency if time, Specimen Lab pin on animal cell, language toggle. PDF conclusion: we ask the jury to play a mission, pin a cell, and switch language. That is the product.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56032"/>
          </a:xfrm>
          <a:prstGeom prst="rect">
            <a:avLst/>
          </a:prstGeom>
          <a:noFill/>
        </p:spPr>
        <p:txBody>
          <a:bodyPr wrap="square" anchor="t"/>
          <a:lstStyle/>
          <a:p>
            <a:pPr algn="l">
              <a:spcBef>
                <a:spcPts val="0"/>
              </a:spcBef>
              <a:spcAft>
                <a:spcPts val="0"/>
              </a:spcAft>
            </a:pPr>
            <a:r>
              <a:rPr sz="1200" b="1" i="0">
                <a:solidFill>
                  <a:srgbClr val="5C6B7A"/>
                </a:solidFill>
                <a:latin typeface="Cambria"/>
                <a:ea typeface="Cambria"/>
                <a:cs typeface="Cambria"/>
              </a:rPr>
              <a:t>JEROME S. BRUNER  ·  TOWARD A THEORY OF INSTRUCTION (1966)</a:t>
            </a:r>
          </a:p>
        </p:txBody>
      </p:sp>
      <p:sp>
        <p:nvSpPr>
          <p:cNvPr id="4" name="TextBox 3"/>
          <p:cNvSpPr txBox="1"/>
          <p:nvPr/>
        </p:nvSpPr>
        <p:spPr>
          <a:xfrm>
            <a:off x="502920" y="530352"/>
            <a:ext cx="11155680" cy="1051560"/>
          </a:xfrm>
          <a:prstGeom prst="rect">
            <a:avLst/>
          </a:prstGeom>
          <a:noFill/>
        </p:spPr>
        <p:txBody>
          <a:bodyPr wrap="square" anchor="t"/>
          <a:lstStyle/>
          <a:p>
            <a:pPr algn="l">
              <a:spcBef>
                <a:spcPts val="0"/>
              </a:spcBef>
              <a:spcAft>
                <a:spcPts val="0"/>
              </a:spcAft>
            </a:pPr>
            <a:r>
              <a:rPr sz="3200" b="1" i="0">
                <a:solidFill>
                  <a:srgbClr val="1E3A5F"/>
                </a:solidFill>
                <a:latin typeface="Georgia"/>
                <a:ea typeface="Georgia"/>
                <a:cs typeface="Georgia"/>
              </a:rPr>
              <a:t>Knowledge is built in three modes, then spiraled back richer.</a:t>
            </a:r>
          </a:p>
        </p:txBody>
      </p:sp>
      <p:sp>
        <p:nvSpPr>
          <p:cNvPr id="5" name="TextBox 4"/>
          <p:cNvSpPr txBox="1"/>
          <p:nvPr/>
        </p:nvSpPr>
        <p:spPr>
          <a:xfrm>
            <a:off x="502920" y="1627632"/>
            <a:ext cx="11155680" cy="566928"/>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A learner can act an idea with the hands, see it as a picture, then name it as a rule. The spiral revisits the same idea at a higher grain. GyanQuest writes this on every mission intro: do and see, then pictures, then name the rule.</a:t>
            </a:r>
          </a:p>
        </p:txBody>
      </p:sp>
      <p:sp>
        <p:nvSpPr>
          <p:cNvPr id="6" name="Rectangle 5"/>
          <p:cNvSpPr/>
          <p:nvPr/>
        </p:nvSpPr>
        <p:spPr>
          <a:xfrm>
            <a:off x="502920" y="2304288"/>
            <a:ext cx="11173968" cy="1115568"/>
          </a:xfrm>
          <a:prstGeom prst="rect">
            <a:avLst/>
          </a:prstGeom>
          <a:solidFill>
            <a:srgbClr val="E8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395728"/>
            <a:ext cx="10808208" cy="310896"/>
          </a:xfrm>
          <a:prstGeom prst="rect">
            <a:avLst/>
          </a:prstGeom>
          <a:noFill/>
        </p:spPr>
        <p:txBody>
          <a:bodyPr wrap="square" anchor="t"/>
          <a:lstStyle/>
          <a:p>
            <a:pPr algn="l">
              <a:spcBef>
                <a:spcPts val="0"/>
              </a:spcBef>
              <a:spcAft>
                <a:spcPts val="0"/>
              </a:spcAft>
            </a:pPr>
            <a:r>
              <a:rPr sz="2000" b="1" i="0">
                <a:solidFill>
                  <a:srgbClr val="1E3A5F"/>
                </a:solidFill>
                <a:latin typeface="Georgia"/>
                <a:ea typeface="Georgia"/>
                <a:cs typeface="Georgia"/>
              </a:rPr>
              <a:t>1   Enactive</a:t>
            </a:r>
          </a:p>
        </p:txBody>
      </p:sp>
      <p:sp>
        <p:nvSpPr>
          <p:cNvPr id="8" name="TextBox 7"/>
          <p:cNvSpPr txBox="1"/>
          <p:nvPr/>
        </p:nvSpPr>
        <p:spPr>
          <a:xfrm>
            <a:off x="685800" y="2706624"/>
            <a:ext cx="10808208" cy="237744"/>
          </a:xfrm>
          <a:prstGeom prst="rect">
            <a:avLst/>
          </a:prstGeom>
          <a:noFill/>
        </p:spPr>
        <p:txBody>
          <a:bodyPr wrap="square" anchor="t"/>
          <a:lstStyle/>
          <a:p>
            <a:pPr algn="l">
              <a:spcBef>
                <a:spcPts val="0"/>
              </a:spcBef>
              <a:spcAft>
                <a:spcPts val="0"/>
              </a:spcAft>
            </a:pPr>
            <a:r>
              <a:rPr sz="1400" b="0" i="1">
                <a:solidFill>
                  <a:srgbClr val="5C6B7A"/>
                </a:solidFill>
                <a:latin typeface="Cambria"/>
                <a:ea typeface="Cambria"/>
                <a:cs typeface="Cambria"/>
              </a:rPr>
              <a:t>Learn by doing.</a:t>
            </a:r>
          </a:p>
        </p:txBody>
      </p:sp>
      <p:sp>
        <p:nvSpPr>
          <p:cNvPr id="9" name="TextBox 8"/>
          <p:cNvSpPr txBox="1"/>
          <p:nvPr/>
        </p:nvSpPr>
        <p:spPr>
          <a:xfrm>
            <a:off x="685800" y="2962656"/>
            <a:ext cx="10808208" cy="347472"/>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Hands on the stage: drag, tap, snap, sort, fail, retry.</a:t>
            </a:r>
          </a:p>
        </p:txBody>
      </p:sp>
      <p:sp>
        <p:nvSpPr>
          <p:cNvPr id="10" name="Rectangle 9"/>
          <p:cNvSpPr/>
          <p:nvPr/>
        </p:nvSpPr>
        <p:spPr>
          <a:xfrm>
            <a:off x="502920" y="3529584"/>
            <a:ext cx="9646920" cy="1115568"/>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621024"/>
            <a:ext cx="9281160" cy="310896"/>
          </a:xfrm>
          <a:prstGeom prst="rect">
            <a:avLst/>
          </a:prstGeom>
          <a:noFill/>
        </p:spPr>
        <p:txBody>
          <a:bodyPr wrap="square" anchor="t"/>
          <a:lstStyle/>
          <a:p>
            <a:pPr algn="l">
              <a:spcBef>
                <a:spcPts val="0"/>
              </a:spcBef>
              <a:spcAft>
                <a:spcPts val="0"/>
              </a:spcAft>
            </a:pPr>
            <a:r>
              <a:rPr sz="2000" b="1" i="0">
                <a:solidFill>
                  <a:srgbClr val="1E3A5F"/>
                </a:solidFill>
                <a:latin typeface="Georgia"/>
                <a:ea typeface="Georgia"/>
                <a:cs typeface="Georgia"/>
              </a:rPr>
              <a:t>2   Iconic</a:t>
            </a:r>
          </a:p>
        </p:txBody>
      </p:sp>
      <p:sp>
        <p:nvSpPr>
          <p:cNvPr id="12" name="TextBox 11"/>
          <p:cNvSpPr txBox="1"/>
          <p:nvPr/>
        </p:nvSpPr>
        <p:spPr>
          <a:xfrm>
            <a:off x="685800" y="3931920"/>
            <a:ext cx="9281160" cy="237744"/>
          </a:xfrm>
          <a:prstGeom prst="rect">
            <a:avLst/>
          </a:prstGeom>
          <a:noFill/>
        </p:spPr>
        <p:txBody>
          <a:bodyPr wrap="square" anchor="t"/>
          <a:lstStyle/>
          <a:p>
            <a:pPr algn="l">
              <a:spcBef>
                <a:spcPts val="0"/>
              </a:spcBef>
              <a:spcAft>
                <a:spcPts val="0"/>
              </a:spcAft>
            </a:pPr>
            <a:r>
              <a:rPr sz="1400" b="0" i="1">
                <a:solidFill>
                  <a:srgbClr val="5C6B7A"/>
                </a:solidFill>
                <a:latin typeface="Cambria"/>
                <a:ea typeface="Cambria"/>
                <a:cs typeface="Cambria"/>
              </a:rPr>
              <a:t>Learn by seeing.</a:t>
            </a:r>
          </a:p>
        </p:txBody>
      </p:sp>
      <p:sp>
        <p:nvSpPr>
          <p:cNvPr id="13" name="TextBox 12"/>
          <p:cNvSpPr txBox="1"/>
          <p:nvPr/>
        </p:nvSpPr>
        <p:spPr>
          <a:xfrm>
            <a:off x="685800" y="4187952"/>
            <a:ext cx="9281160" cy="347472"/>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Pictures and motion: chips, dials, 2D labs, 3D specimen.</a:t>
            </a:r>
          </a:p>
        </p:txBody>
      </p:sp>
      <p:sp>
        <p:nvSpPr>
          <p:cNvPr id="14" name="Rectangle 13"/>
          <p:cNvSpPr/>
          <p:nvPr/>
        </p:nvSpPr>
        <p:spPr>
          <a:xfrm>
            <a:off x="502920" y="4754880"/>
            <a:ext cx="8092440" cy="1115568"/>
          </a:xfrm>
          <a:prstGeom prst="rect">
            <a:avLst/>
          </a:prstGeom>
          <a:solidFill>
            <a:srgbClr val="E8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846320"/>
            <a:ext cx="7726679" cy="310896"/>
          </a:xfrm>
          <a:prstGeom prst="rect">
            <a:avLst/>
          </a:prstGeom>
          <a:noFill/>
        </p:spPr>
        <p:txBody>
          <a:bodyPr wrap="square" anchor="t"/>
          <a:lstStyle/>
          <a:p>
            <a:pPr algn="l">
              <a:spcBef>
                <a:spcPts val="0"/>
              </a:spcBef>
              <a:spcAft>
                <a:spcPts val="0"/>
              </a:spcAft>
            </a:pPr>
            <a:r>
              <a:rPr sz="2000" b="1" i="0">
                <a:solidFill>
                  <a:srgbClr val="1E3A5F"/>
                </a:solidFill>
                <a:latin typeface="Georgia"/>
                <a:ea typeface="Georgia"/>
                <a:cs typeface="Georgia"/>
              </a:rPr>
              <a:t>3   Symbolic</a:t>
            </a:r>
          </a:p>
        </p:txBody>
      </p:sp>
      <p:sp>
        <p:nvSpPr>
          <p:cNvPr id="16" name="TextBox 15"/>
          <p:cNvSpPr txBox="1"/>
          <p:nvPr/>
        </p:nvSpPr>
        <p:spPr>
          <a:xfrm>
            <a:off x="685800" y="5157216"/>
            <a:ext cx="7726679" cy="237744"/>
          </a:xfrm>
          <a:prstGeom prst="rect">
            <a:avLst/>
          </a:prstGeom>
          <a:noFill/>
        </p:spPr>
        <p:txBody>
          <a:bodyPr wrap="square" anchor="t"/>
          <a:lstStyle/>
          <a:p>
            <a:pPr algn="l">
              <a:spcBef>
                <a:spcPts val="0"/>
              </a:spcBef>
              <a:spcAft>
                <a:spcPts val="0"/>
              </a:spcAft>
            </a:pPr>
            <a:r>
              <a:rPr sz="1400" b="0" i="1">
                <a:solidFill>
                  <a:srgbClr val="5C6B7A"/>
                </a:solidFill>
                <a:latin typeface="Cambria"/>
                <a:ea typeface="Cambria"/>
                <a:cs typeface="Cambria"/>
              </a:rPr>
              <a:t>Learn by naming.</a:t>
            </a:r>
          </a:p>
        </p:txBody>
      </p:sp>
      <p:sp>
        <p:nvSpPr>
          <p:cNvPr id="17" name="TextBox 16"/>
          <p:cNvSpPr txBox="1"/>
          <p:nvPr/>
        </p:nvSpPr>
        <p:spPr>
          <a:xfrm>
            <a:off x="685800" y="5413248"/>
            <a:ext cx="7726679" cy="347472"/>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Language and form: the rule, the formula, the 80% drill.</a:t>
            </a:r>
          </a:p>
        </p:txBody>
      </p:sp>
      <p:sp>
        <p:nvSpPr>
          <p:cNvPr id="18" name="TextBox 17"/>
          <p:cNvSpPr txBox="1"/>
          <p:nvPr/>
        </p:nvSpPr>
        <p:spPr>
          <a:xfrm>
            <a:off x="502920" y="6565392"/>
            <a:ext cx="9601200" cy="237744"/>
          </a:xfrm>
          <a:prstGeom prst="rect">
            <a:avLst/>
          </a:prstGeom>
          <a:noFill/>
        </p:spPr>
        <p:txBody>
          <a:bodyPr wrap="square" anchor="t"/>
          <a:lstStyle/>
          <a:p>
            <a:pPr algn="l">
              <a:spcBef>
                <a:spcPts val="0"/>
              </a:spcBef>
              <a:spcAft>
                <a:spcPts val="0"/>
              </a:spcAft>
            </a:pPr>
            <a:r>
              <a:rPr sz="1100" b="0" i="0">
                <a:solidFill>
                  <a:srgbClr val="5C6B7A"/>
                </a:solidFill>
                <a:latin typeface="Cambria"/>
                <a:ea typeface="Cambria"/>
                <a:cs typeface="Cambria"/>
              </a:rPr>
              <a:t>BrainChild 2.0  ·  Team Alpha  ·  University of Frontier Technology, Bangladesh</a:t>
            </a:r>
          </a:p>
        </p:txBody>
      </p:sp>
      <p:sp>
        <p:nvSpPr>
          <p:cNvPr id="19" name="TextBox 18"/>
          <p:cNvSpPr txBox="1"/>
          <p:nvPr/>
        </p:nvSpPr>
        <p:spPr>
          <a:xfrm>
            <a:off x="10469880" y="6565392"/>
            <a:ext cx="1188720" cy="237744"/>
          </a:xfrm>
          <a:prstGeom prst="rect">
            <a:avLst/>
          </a:prstGeom>
          <a:noFill/>
        </p:spPr>
        <p:txBody>
          <a:bodyPr wrap="square" anchor="t"/>
          <a:lstStyle/>
          <a:p>
            <a:pPr algn="r">
              <a:spcBef>
                <a:spcPts val="0"/>
              </a:spcBef>
              <a:spcAft>
                <a:spcPts val="0"/>
              </a:spcAft>
            </a:pPr>
            <a:r>
              <a:rPr sz="1100" b="0" i="0">
                <a:solidFill>
                  <a:srgbClr val="5C6B7A"/>
                </a:solidFill>
                <a:latin typeface="Cambria"/>
                <a:ea typeface="Cambria"/>
                <a:cs typeface="Cambria"/>
              </a:rPr>
              <a:t>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56032"/>
          </a:xfrm>
          <a:prstGeom prst="rect">
            <a:avLst/>
          </a:prstGeom>
          <a:noFill/>
        </p:spPr>
        <p:txBody>
          <a:bodyPr wrap="square" anchor="t"/>
          <a:lstStyle/>
          <a:p>
            <a:pPr algn="l">
              <a:spcBef>
                <a:spcPts val="0"/>
              </a:spcBef>
              <a:spcAft>
                <a:spcPts val="0"/>
              </a:spcAft>
            </a:pPr>
            <a:r>
              <a:rPr sz="1200" b="1" i="0">
                <a:solidFill>
                  <a:srgbClr val="5C6B7A"/>
                </a:solidFill>
                <a:latin typeface="Cambria"/>
                <a:ea typeface="Cambria"/>
                <a:cs typeface="Cambria"/>
              </a:rPr>
              <a:t>OBJECTIVES  ·  FROM THE BRAINCHILD REPORT</a:t>
            </a:r>
          </a:p>
        </p:txBody>
      </p:sp>
      <p:sp>
        <p:nvSpPr>
          <p:cNvPr id="4" name="TextBox 3"/>
          <p:cNvSpPr txBox="1"/>
          <p:nvPr/>
        </p:nvSpPr>
        <p:spPr>
          <a:xfrm>
            <a:off x="502920" y="530352"/>
            <a:ext cx="11155680" cy="960120"/>
          </a:xfrm>
          <a:prstGeom prst="rect">
            <a:avLst/>
          </a:prstGeom>
          <a:noFill/>
        </p:spPr>
        <p:txBody>
          <a:bodyPr wrap="square" anchor="t"/>
          <a:lstStyle/>
          <a:p>
            <a:pPr algn="l">
              <a:spcBef>
                <a:spcPts val="0"/>
              </a:spcBef>
              <a:spcAft>
                <a:spcPts val="0"/>
              </a:spcAft>
            </a:pPr>
            <a:r>
              <a:rPr sz="3000" b="1" i="0">
                <a:solidFill>
                  <a:srgbClr val="1E3A5F"/>
                </a:solidFill>
                <a:latin typeface="Georgia"/>
                <a:ea typeface="Georgia"/>
                <a:cs typeface="Georgia"/>
              </a:rPr>
              <a:t>A school outcome becomes a mission with a win condition.</a:t>
            </a:r>
          </a:p>
        </p:txBody>
      </p:sp>
      <p:sp>
        <p:nvSpPr>
          <p:cNvPr id="5" name="TextBox 4"/>
          <p:cNvSpPr txBox="1"/>
          <p:nvPr/>
        </p:nvSpPr>
        <p:spPr>
          <a:xfrm>
            <a:off x="502920" y="1664208"/>
            <a:ext cx="640080" cy="365760"/>
          </a:xfrm>
          <a:prstGeom prst="rect">
            <a:avLst/>
          </a:prstGeom>
          <a:noFill/>
        </p:spPr>
        <p:txBody>
          <a:bodyPr wrap="square" anchor="t"/>
          <a:lstStyle/>
          <a:p>
            <a:pPr algn="l">
              <a:spcBef>
                <a:spcPts val="0"/>
              </a:spcBef>
              <a:spcAft>
                <a:spcPts val="0"/>
              </a:spcAft>
            </a:pPr>
            <a:r>
              <a:rPr sz="2000" b="1" i="0">
                <a:solidFill>
                  <a:srgbClr val="1E3A5F"/>
                </a:solidFill>
                <a:latin typeface="Georgia"/>
                <a:ea typeface="Georgia"/>
                <a:cs typeface="Georgia"/>
              </a:rPr>
              <a:t>01</a:t>
            </a:r>
          </a:p>
        </p:txBody>
      </p:sp>
      <p:sp>
        <p:nvSpPr>
          <p:cNvPr id="6" name="TextBox 5"/>
          <p:cNvSpPr txBox="1"/>
          <p:nvPr/>
        </p:nvSpPr>
        <p:spPr>
          <a:xfrm>
            <a:off x="1188720" y="1664208"/>
            <a:ext cx="4846320" cy="365760"/>
          </a:xfrm>
          <a:prstGeom prst="rect">
            <a:avLst/>
          </a:prstGeom>
          <a:noFill/>
        </p:spPr>
        <p:txBody>
          <a:bodyPr wrap="square" anchor="t"/>
          <a:lstStyle/>
          <a:p>
            <a:pPr algn="l">
              <a:spcBef>
                <a:spcPts val="0"/>
              </a:spcBef>
              <a:spcAft>
                <a:spcPts val="0"/>
              </a:spcAft>
            </a:pPr>
            <a:r>
              <a:rPr sz="1800" b="1" i="0">
                <a:solidFill>
                  <a:srgbClr val="1E3A5F"/>
                </a:solidFill>
                <a:latin typeface="Georgia"/>
                <a:ea typeface="Georgia"/>
                <a:cs typeface="Georgia"/>
              </a:rPr>
              <a:t>Playable, not watched</a:t>
            </a:r>
          </a:p>
        </p:txBody>
      </p:sp>
      <p:sp>
        <p:nvSpPr>
          <p:cNvPr id="7" name="TextBox 6"/>
          <p:cNvSpPr txBox="1"/>
          <p:nvPr/>
        </p:nvSpPr>
        <p:spPr>
          <a:xfrm>
            <a:off x="1188720" y="2048256"/>
            <a:ext cx="4846320" cy="960120"/>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Each stated objective has a clear win: sort, snap, drill, mastery.</a:t>
            </a:r>
          </a:p>
        </p:txBody>
      </p:sp>
      <p:sp>
        <p:nvSpPr>
          <p:cNvPr id="8" name="TextBox 7"/>
          <p:cNvSpPr txBox="1"/>
          <p:nvPr/>
        </p:nvSpPr>
        <p:spPr>
          <a:xfrm>
            <a:off x="6355080" y="1664208"/>
            <a:ext cx="640080" cy="365760"/>
          </a:xfrm>
          <a:prstGeom prst="rect">
            <a:avLst/>
          </a:prstGeom>
          <a:noFill/>
        </p:spPr>
        <p:txBody>
          <a:bodyPr wrap="square" anchor="t"/>
          <a:lstStyle/>
          <a:p>
            <a:pPr algn="l">
              <a:spcBef>
                <a:spcPts val="0"/>
              </a:spcBef>
              <a:spcAft>
                <a:spcPts val="0"/>
              </a:spcAft>
            </a:pPr>
            <a:r>
              <a:rPr sz="2000" b="1" i="0">
                <a:solidFill>
                  <a:srgbClr val="1E3A5F"/>
                </a:solidFill>
                <a:latin typeface="Georgia"/>
                <a:ea typeface="Georgia"/>
                <a:cs typeface="Georgia"/>
              </a:rPr>
              <a:t>02</a:t>
            </a:r>
          </a:p>
        </p:txBody>
      </p:sp>
      <p:sp>
        <p:nvSpPr>
          <p:cNvPr id="9" name="TextBox 8"/>
          <p:cNvSpPr txBox="1"/>
          <p:nvPr/>
        </p:nvSpPr>
        <p:spPr>
          <a:xfrm>
            <a:off x="7040880" y="1664208"/>
            <a:ext cx="4846320" cy="365760"/>
          </a:xfrm>
          <a:prstGeom prst="rect">
            <a:avLst/>
          </a:prstGeom>
          <a:noFill/>
        </p:spPr>
        <p:txBody>
          <a:bodyPr wrap="square" anchor="t"/>
          <a:lstStyle/>
          <a:p>
            <a:pPr algn="l">
              <a:spcBef>
                <a:spcPts val="0"/>
              </a:spcBef>
              <a:spcAft>
                <a:spcPts val="0"/>
              </a:spcAft>
            </a:pPr>
            <a:r>
              <a:rPr sz="1800" b="1" i="0">
                <a:solidFill>
                  <a:srgbClr val="1E3A5F"/>
                </a:solidFill>
                <a:latin typeface="Georgia"/>
                <a:ea typeface="Georgia"/>
                <a:cs typeface="Georgia"/>
              </a:rPr>
              <a:t>Readable stage</a:t>
            </a:r>
          </a:p>
        </p:txBody>
      </p:sp>
      <p:sp>
        <p:nvSpPr>
          <p:cNvPr id="10" name="TextBox 9"/>
          <p:cNvSpPr txBox="1"/>
          <p:nvPr/>
        </p:nvSpPr>
        <p:spPr>
          <a:xfrm>
            <a:off x="7040880" y="2048256"/>
            <a:ext cx="4846320" cy="960120"/>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Canvas 2D for graded missions. 3D only where spatial inspection helps.</a:t>
            </a:r>
          </a:p>
        </p:txBody>
      </p:sp>
      <p:sp>
        <p:nvSpPr>
          <p:cNvPr id="11" name="TextBox 10"/>
          <p:cNvSpPr txBox="1"/>
          <p:nvPr/>
        </p:nvSpPr>
        <p:spPr>
          <a:xfrm>
            <a:off x="502920" y="3200400"/>
            <a:ext cx="640080" cy="365760"/>
          </a:xfrm>
          <a:prstGeom prst="rect">
            <a:avLst/>
          </a:prstGeom>
          <a:noFill/>
        </p:spPr>
        <p:txBody>
          <a:bodyPr wrap="square" anchor="t"/>
          <a:lstStyle/>
          <a:p>
            <a:pPr algn="l">
              <a:spcBef>
                <a:spcPts val="0"/>
              </a:spcBef>
              <a:spcAft>
                <a:spcPts val="0"/>
              </a:spcAft>
            </a:pPr>
            <a:r>
              <a:rPr sz="2000" b="1" i="0">
                <a:solidFill>
                  <a:srgbClr val="1E3A5F"/>
                </a:solidFill>
                <a:latin typeface="Georgia"/>
                <a:ea typeface="Georgia"/>
                <a:cs typeface="Georgia"/>
              </a:rPr>
              <a:t>03</a:t>
            </a:r>
          </a:p>
        </p:txBody>
      </p:sp>
      <p:sp>
        <p:nvSpPr>
          <p:cNvPr id="12" name="TextBox 11"/>
          <p:cNvSpPr txBox="1"/>
          <p:nvPr/>
        </p:nvSpPr>
        <p:spPr>
          <a:xfrm>
            <a:off x="1188720" y="3200400"/>
            <a:ext cx="4846320" cy="365760"/>
          </a:xfrm>
          <a:prstGeom prst="rect">
            <a:avLst/>
          </a:prstGeom>
          <a:noFill/>
        </p:spPr>
        <p:txBody>
          <a:bodyPr wrap="square" anchor="t"/>
          <a:lstStyle/>
          <a:p>
            <a:pPr algn="l">
              <a:spcBef>
                <a:spcPts val="0"/>
              </a:spcBef>
              <a:spcAft>
                <a:spcPts val="0"/>
              </a:spcAft>
            </a:pPr>
            <a:r>
              <a:rPr sz="1800" b="1" i="0">
                <a:solidFill>
                  <a:srgbClr val="1E3A5F"/>
                </a:solidFill>
                <a:latin typeface="Georgia"/>
                <a:ea typeface="Georgia"/>
                <a:cs typeface="Georgia"/>
              </a:rPr>
              <a:t>State that survives reload</a:t>
            </a:r>
          </a:p>
        </p:txBody>
      </p:sp>
      <p:sp>
        <p:nvSpPr>
          <p:cNvPr id="13" name="TextBox 12"/>
          <p:cNvSpPr txBox="1"/>
          <p:nvPr/>
        </p:nvSpPr>
        <p:spPr>
          <a:xfrm>
            <a:off x="1188720" y="3584448"/>
            <a:ext cx="4846320" cy="960120"/>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save-v2 restores hub vs in-mission in the browser.</a:t>
            </a:r>
          </a:p>
        </p:txBody>
      </p:sp>
      <p:sp>
        <p:nvSpPr>
          <p:cNvPr id="14" name="TextBox 13"/>
          <p:cNvSpPr txBox="1"/>
          <p:nvPr/>
        </p:nvSpPr>
        <p:spPr>
          <a:xfrm>
            <a:off x="6355080" y="3200400"/>
            <a:ext cx="640080" cy="365760"/>
          </a:xfrm>
          <a:prstGeom prst="rect">
            <a:avLst/>
          </a:prstGeom>
          <a:noFill/>
        </p:spPr>
        <p:txBody>
          <a:bodyPr wrap="square" anchor="t"/>
          <a:lstStyle/>
          <a:p>
            <a:pPr algn="l">
              <a:spcBef>
                <a:spcPts val="0"/>
              </a:spcBef>
              <a:spcAft>
                <a:spcPts val="0"/>
              </a:spcAft>
            </a:pPr>
            <a:r>
              <a:rPr sz="2000" b="1" i="0">
                <a:solidFill>
                  <a:srgbClr val="1E3A5F"/>
                </a:solidFill>
                <a:latin typeface="Georgia"/>
                <a:ea typeface="Georgia"/>
                <a:cs typeface="Georgia"/>
              </a:rPr>
              <a:t>04</a:t>
            </a:r>
          </a:p>
        </p:txBody>
      </p:sp>
      <p:sp>
        <p:nvSpPr>
          <p:cNvPr id="15" name="TextBox 14"/>
          <p:cNvSpPr txBox="1"/>
          <p:nvPr/>
        </p:nvSpPr>
        <p:spPr>
          <a:xfrm>
            <a:off x="7040880" y="3200400"/>
            <a:ext cx="4846320" cy="365760"/>
          </a:xfrm>
          <a:prstGeom prst="rect">
            <a:avLst/>
          </a:prstGeom>
          <a:noFill/>
        </p:spPr>
        <p:txBody>
          <a:bodyPr wrap="square" anchor="t"/>
          <a:lstStyle/>
          <a:p>
            <a:pPr algn="l">
              <a:spcBef>
                <a:spcPts val="0"/>
              </a:spcBef>
              <a:spcAft>
                <a:spcPts val="0"/>
              </a:spcAft>
            </a:pPr>
            <a:r>
              <a:rPr sz="1800" b="1" i="0">
                <a:solidFill>
                  <a:srgbClr val="1E3A5F"/>
                </a:solidFill>
                <a:latin typeface="Georgia"/>
                <a:ea typeface="Georgia"/>
                <a:cs typeface="Georgia"/>
              </a:rPr>
              <a:t>Bangla and English first-class</a:t>
            </a:r>
          </a:p>
        </p:txBody>
      </p:sp>
      <p:sp>
        <p:nvSpPr>
          <p:cNvPr id="16" name="TextBox 15"/>
          <p:cNvSpPr txBox="1"/>
          <p:nvPr/>
        </p:nvSpPr>
        <p:spPr>
          <a:xfrm>
            <a:off x="7040880" y="3584448"/>
            <a:ext cx="4846320" cy="960120"/>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Two language modes. Not a subtitle overlay.</a:t>
            </a:r>
          </a:p>
        </p:txBody>
      </p:sp>
      <p:sp>
        <p:nvSpPr>
          <p:cNvPr id="17" name="TextBox 16"/>
          <p:cNvSpPr txBox="1"/>
          <p:nvPr/>
        </p:nvSpPr>
        <p:spPr>
          <a:xfrm>
            <a:off x="502920" y="4736592"/>
            <a:ext cx="640080" cy="365760"/>
          </a:xfrm>
          <a:prstGeom prst="rect">
            <a:avLst/>
          </a:prstGeom>
          <a:noFill/>
        </p:spPr>
        <p:txBody>
          <a:bodyPr wrap="square" anchor="t"/>
          <a:lstStyle/>
          <a:p>
            <a:pPr algn="l">
              <a:spcBef>
                <a:spcPts val="0"/>
              </a:spcBef>
              <a:spcAft>
                <a:spcPts val="0"/>
              </a:spcAft>
            </a:pPr>
            <a:r>
              <a:rPr sz="2000" b="1" i="0">
                <a:solidFill>
                  <a:srgbClr val="1E3A5F"/>
                </a:solidFill>
                <a:latin typeface="Georgia"/>
                <a:ea typeface="Georgia"/>
                <a:cs typeface="Georgia"/>
              </a:rPr>
              <a:t>05</a:t>
            </a:r>
          </a:p>
        </p:txBody>
      </p:sp>
      <p:sp>
        <p:nvSpPr>
          <p:cNvPr id="18" name="TextBox 17"/>
          <p:cNvSpPr txBox="1"/>
          <p:nvPr/>
        </p:nvSpPr>
        <p:spPr>
          <a:xfrm>
            <a:off x="1188720" y="4736592"/>
            <a:ext cx="4846320" cy="365760"/>
          </a:xfrm>
          <a:prstGeom prst="rect">
            <a:avLst/>
          </a:prstGeom>
          <a:noFill/>
        </p:spPr>
        <p:txBody>
          <a:bodyPr wrap="square" anchor="t"/>
          <a:lstStyle/>
          <a:p>
            <a:pPr algn="l">
              <a:spcBef>
                <a:spcPts val="0"/>
              </a:spcBef>
              <a:spcAft>
                <a:spcPts val="0"/>
              </a:spcAft>
            </a:pPr>
            <a:r>
              <a:rPr sz="1800" b="1" i="0">
                <a:solidFill>
                  <a:srgbClr val="1E3A5F"/>
                </a:solidFill>
                <a:latin typeface="Georgia"/>
                <a:ea typeface="Georgia"/>
                <a:cs typeface="Georgia"/>
              </a:rPr>
              <a:t>AI cannot block class</a:t>
            </a:r>
          </a:p>
        </p:txBody>
      </p:sp>
      <p:sp>
        <p:nvSpPr>
          <p:cNvPr id="19" name="TextBox 18"/>
          <p:cNvSpPr txBox="1"/>
          <p:nvPr/>
        </p:nvSpPr>
        <p:spPr>
          <a:xfrm>
            <a:off x="1188720" y="5120640"/>
            <a:ext cx="4846320" cy="960120"/>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If Groq is down or the key is missing, the game still teaches.</a:t>
            </a:r>
          </a:p>
        </p:txBody>
      </p:sp>
      <p:sp>
        <p:nvSpPr>
          <p:cNvPr id="20" name="TextBox 19"/>
          <p:cNvSpPr txBox="1"/>
          <p:nvPr/>
        </p:nvSpPr>
        <p:spPr>
          <a:xfrm>
            <a:off x="6355080" y="4736592"/>
            <a:ext cx="640080" cy="365760"/>
          </a:xfrm>
          <a:prstGeom prst="rect">
            <a:avLst/>
          </a:prstGeom>
          <a:noFill/>
        </p:spPr>
        <p:txBody>
          <a:bodyPr wrap="square" anchor="t"/>
          <a:lstStyle/>
          <a:p>
            <a:pPr algn="l">
              <a:spcBef>
                <a:spcPts val="0"/>
              </a:spcBef>
              <a:spcAft>
                <a:spcPts val="0"/>
              </a:spcAft>
            </a:pPr>
            <a:r>
              <a:rPr sz="2000" b="1" i="0">
                <a:solidFill>
                  <a:srgbClr val="1E3A5F"/>
                </a:solidFill>
                <a:latin typeface="Georgia"/>
                <a:ea typeface="Georgia"/>
                <a:cs typeface="Georgia"/>
              </a:rPr>
              <a:t>06</a:t>
            </a:r>
          </a:p>
        </p:txBody>
      </p:sp>
      <p:sp>
        <p:nvSpPr>
          <p:cNvPr id="21" name="TextBox 20"/>
          <p:cNvSpPr txBox="1"/>
          <p:nvPr/>
        </p:nvSpPr>
        <p:spPr>
          <a:xfrm>
            <a:off x="7040880" y="4736592"/>
            <a:ext cx="4846320" cy="365760"/>
          </a:xfrm>
          <a:prstGeom prst="rect">
            <a:avLst/>
          </a:prstGeom>
          <a:noFill/>
        </p:spPr>
        <p:txBody>
          <a:bodyPr wrap="square" anchor="t"/>
          <a:lstStyle/>
          <a:p>
            <a:pPr algn="l">
              <a:spcBef>
                <a:spcPts val="0"/>
              </a:spcBef>
              <a:spcAft>
                <a:spcPts val="0"/>
              </a:spcAft>
            </a:pPr>
            <a:r>
              <a:rPr sz="1800" b="1" i="0">
                <a:solidFill>
                  <a:srgbClr val="1E3A5F"/>
                </a:solidFill>
                <a:latin typeface="Georgia"/>
                <a:ea typeface="Georgia"/>
                <a:cs typeface="Georgia"/>
              </a:rPr>
              <a:t>Browser is the lab</a:t>
            </a:r>
          </a:p>
        </p:txBody>
      </p:sp>
      <p:sp>
        <p:nvSpPr>
          <p:cNvPr id="22" name="TextBox 21"/>
          <p:cNvSpPr txBox="1"/>
          <p:nvPr/>
        </p:nvSpPr>
        <p:spPr>
          <a:xfrm>
            <a:off x="7040880" y="5120640"/>
            <a:ext cx="4846320" cy="960120"/>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No install. A modern browser is the only required hardware.</a:t>
            </a:r>
          </a:p>
        </p:txBody>
      </p:sp>
      <p:sp>
        <p:nvSpPr>
          <p:cNvPr id="23" name="TextBox 22"/>
          <p:cNvSpPr txBox="1"/>
          <p:nvPr/>
        </p:nvSpPr>
        <p:spPr>
          <a:xfrm>
            <a:off x="502920" y="6565392"/>
            <a:ext cx="9601200" cy="237744"/>
          </a:xfrm>
          <a:prstGeom prst="rect">
            <a:avLst/>
          </a:prstGeom>
          <a:noFill/>
        </p:spPr>
        <p:txBody>
          <a:bodyPr wrap="square" anchor="t"/>
          <a:lstStyle/>
          <a:p>
            <a:pPr algn="l">
              <a:spcBef>
                <a:spcPts val="0"/>
              </a:spcBef>
              <a:spcAft>
                <a:spcPts val="0"/>
              </a:spcAft>
            </a:pPr>
            <a:r>
              <a:rPr sz="1100" b="0" i="0">
                <a:solidFill>
                  <a:srgbClr val="5C6B7A"/>
                </a:solidFill>
                <a:latin typeface="Cambria"/>
                <a:ea typeface="Cambria"/>
                <a:cs typeface="Cambria"/>
              </a:rPr>
              <a:t>BrainChild 2.0  ·  Team Alpha  ·  University of Frontier Technology, Bangladesh</a:t>
            </a:r>
          </a:p>
        </p:txBody>
      </p:sp>
      <p:sp>
        <p:nvSpPr>
          <p:cNvPr id="24" name="TextBox 23"/>
          <p:cNvSpPr txBox="1"/>
          <p:nvPr/>
        </p:nvSpPr>
        <p:spPr>
          <a:xfrm>
            <a:off x="10469880" y="6565392"/>
            <a:ext cx="1188720" cy="237744"/>
          </a:xfrm>
          <a:prstGeom prst="rect">
            <a:avLst/>
          </a:prstGeom>
          <a:noFill/>
        </p:spPr>
        <p:txBody>
          <a:bodyPr wrap="square" anchor="t"/>
          <a:lstStyle/>
          <a:p>
            <a:pPr algn="r">
              <a:spcBef>
                <a:spcPts val="0"/>
              </a:spcBef>
              <a:spcAft>
                <a:spcPts val="0"/>
              </a:spcAft>
            </a:pPr>
            <a:r>
              <a:rPr sz="1100" b="0" i="0">
                <a:solidFill>
                  <a:srgbClr val="5C6B7A"/>
                </a:solidFill>
                <a:latin typeface="Cambria"/>
                <a:ea typeface="Cambria"/>
                <a:cs typeface="Cambria"/>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56032"/>
          </a:xfrm>
          <a:prstGeom prst="rect">
            <a:avLst/>
          </a:prstGeom>
          <a:noFill/>
        </p:spPr>
        <p:txBody>
          <a:bodyPr wrap="square" anchor="t"/>
          <a:lstStyle/>
          <a:p>
            <a:pPr algn="l">
              <a:spcBef>
                <a:spcPts val="0"/>
              </a:spcBef>
              <a:spcAft>
                <a:spcPts val="0"/>
              </a:spcAft>
            </a:pPr>
            <a:r>
              <a:rPr sz="1200" b="1" i="0">
                <a:solidFill>
                  <a:srgbClr val="5C6B7A"/>
                </a:solidFill>
                <a:latin typeface="Cambria"/>
                <a:ea typeface="Cambria"/>
                <a:cs typeface="Cambria"/>
              </a:rPr>
              <a:t>PROBLEM STATEMENT</a:t>
            </a:r>
          </a:p>
        </p:txBody>
      </p:sp>
      <p:sp>
        <p:nvSpPr>
          <p:cNvPr id="4" name="TextBox 3"/>
          <p:cNvSpPr txBox="1"/>
          <p:nvPr/>
        </p:nvSpPr>
        <p:spPr>
          <a:xfrm>
            <a:off x="502920" y="530352"/>
            <a:ext cx="6903720" cy="1325880"/>
          </a:xfrm>
          <a:prstGeom prst="rect">
            <a:avLst/>
          </a:prstGeom>
          <a:noFill/>
        </p:spPr>
        <p:txBody>
          <a:bodyPr wrap="square" anchor="t"/>
          <a:lstStyle/>
          <a:p>
            <a:pPr algn="l">
              <a:spcBef>
                <a:spcPts val="0"/>
              </a:spcBef>
              <a:spcAft>
                <a:spcPts val="0"/>
              </a:spcAft>
            </a:pPr>
            <a:r>
              <a:rPr sz="3000" b="1" i="0">
                <a:solidFill>
                  <a:srgbClr val="1E3A5F"/>
                </a:solidFill>
                <a:latin typeface="Georgia"/>
                <a:ea typeface="Georgia"/>
                <a:cs typeface="Georgia"/>
              </a:rPr>
              <a:t>Lecture-heavy STEAM never proves the idea was enacted.</a:t>
            </a:r>
          </a:p>
        </p:txBody>
      </p:sp>
      <p:sp>
        <p:nvSpPr>
          <p:cNvPr id="5" name="TextBox 4"/>
          <p:cNvSpPr txBox="1"/>
          <p:nvPr/>
        </p:nvSpPr>
        <p:spPr>
          <a:xfrm>
            <a:off x="502920" y="1965960"/>
            <a:ext cx="6903720" cy="1234440"/>
          </a:xfrm>
          <a:prstGeom prst="rect">
            <a:avLst/>
          </a:prstGeom>
          <a:noFill/>
        </p:spPr>
        <p:txBody>
          <a:bodyPr wrap="square" anchor="t"/>
          <a:lstStyle/>
          <a:p>
            <a:pPr algn="l">
              <a:spcBef>
                <a:spcPts val="0"/>
              </a:spcBef>
              <a:spcAft>
                <a:spcPts val="0"/>
              </a:spcAft>
            </a:pPr>
            <a:r>
              <a:rPr sz="1700" b="0" i="0">
                <a:solidFill>
                  <a:srgbClr val="1B2838"/>
                </a:solidFill>
                <a:latin typeface="Cambria"/>
                <a:ea typeface="Cambria"/>
                <a:cs typeface="Cambria"/>
              </a:rPr>
              <a:t>Bangladeshi classrooms: shared phones, flaky internet, no dedicated hardware lab. Tools are a video here, a quiz there, a 3D demo that only runs on a lab PC.</a:t>
            </a:r>
          </a:p>
        </p:txBody>
      </p:sp>
      <p:sp>
        <p:nvSpPr>
          <p:cNvPr id="6" name="Rectangle 5"/>
          <p:cNvSpPr/>
          <p:nvPr/>
        </p:nvSpPr>
        <p:spPr>
          <a:xfrm>
            <a:off x="502920" y="3310128"/>
            <a:ext cx="128016" cy="713232"/>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3383280"/>
            <a:ext cx="6537960" cy="640080"/>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Learners watch and click MCQ. Teachers cannot see enacted vs memorized.</a:t>
            </a:r>
          </a:p>
        </p:txBody>
      </p:sp>
      <p:sp>
        <p:nvSpPr>
          <p:cNvPr id="8" name="Rectangle 7"/>
          <p:cNvSpPr/>
          <p:nvPr/>
        </p:nvSpPr>
        <p:spPr>
          <a:xfrm>
            <a:off x="502920" y="4206240"/>
            <a:ext cx="128016" cy="713232"/>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279392"/>
            <a:ext cx="6537960" cy="640080"/>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A village computer class and a city coaching center cannot share one product.</a:t>
            </a:r>
          </a:p>
        </p:txBody>
      </p:sp>
      <p:sp>
        <p:nvSpPr>
          <p:cNvPr id="10" name="Rectangle 9"/>
          <p:cNvSpPr/>
          <p:nvPr/>
        </p:nvSpPr>
        <p:spPr>
          <a:xfrm>
            <a:off x="502920" y="5102352"/>
            <a:ext cx="128016" cy="713232"/>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175504"/>
            <a:ext cx="6537960" cy="640080"/>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Time-watched is treated as progress. Fluency is not.</a:t>
            </a:r>
          </a:p>
        </p:txBody>
      </p:sp>
      <p:sp>
        <p:nvSpPr>
          <p:cNvPr id="12" name="Rectangle 11"/>
          <p:cNvSpPr/>
          <p:nvPr/>
        </p:nvSpPr>
        <p:spPr>
          <a:xfrm>
            <a:off x="7726679" y="256032"/>
            <a:ext cx="4023360" cy="60807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79" y="502920"/>
            <a:ext cx="3611880" cy="365760"/>
          </a:xfrm>
          <a:prstGeom prst="rect">
            <a:avLst/>
          </a:prstGeom>
          <a:noFill/>
        </p:spPr>
        <p:txBody>
          <a:bodyPr wrap="square" anchor="t"/>
          <a:lstStyle/>
          <a:p>
            <a:pPr algn="l">
              <a:spcBef>
                <a:spcPts val="0"/>
              </a:spcBef>
              <a:spcAft>
                <a:spcPts val="0"/>
              </a:spcAft>
            </a:pPr>
            <a:r>
              <a:rPr sz="1400" b="1" i="0">
                <a:solidFill>
                  <a:srgbClr val="C4A35A"/>
                </a:solidFill>
                <a:latin typeface="Cambria"/>
                <a:ea typeface="Cambria"/>
                <a:cs typeface="Cambria"/>
              </a:rPr>
              <a:t>What fails today</a:t>
            </a:r>
          </a:p>
        </p:txBody>
      </p:sp>
      <p:sp>
        <p:nvSpPr>
          <p:cNvPr id="14" name="TextBox 13"/>
          <p:cNvSpPr txBox="1"/>
          <p:nvPr/>
        </p:nvSpPr>
        <p:spPr>
          <a:xfrm>
            <a:off x="7955279" y="1051560"/>
            <a:ext cx="3611880" cy="292608"/>
          </a:xfrm>
          <a:prstGeom prst="rect">
            <a:avLst/>
          </a:prstGeom>
          <a:noFill/>
        </p:spPr>
        <p:txBody>
          <a:bodyPr wrap="square" anchor="t"/>
          <a:lstStyle/>
          <a:p>
            <a:pPr algn="l">
              <a:spcBef>
                <a:spcPts val="0"/>
              </a:spcBef>
              <a:spcAft>
                <a:spcPts val="0"/>
              </a:spcAft>
            </a:pPr>
            <a:r>
              <a:rPr sz="1600" b="1" i="0">
                <a:solidFill>
                  <a:srgbClr val="F4EBD0"/>
                </a:solidFill>
                <a:latin typeface="Georgia"/>
                <a:ea typeface="Georgia"/>
                <a:cs typeface="Georgia"/>
              </a:rPr>
              <a:t>Watch + MCQ</a:t>
            </a:r>
          </a:p>
        </p:txBody>
      </p:sp>
      <p:sp>
        <p:nvSpPr>
          <p:cNvPr id="15" name="TextBox 14"/>
          <p:cNvSpPr txBox="1"/>
          <p:nvPr/>
        </p:nvSpPr>
        <p:spPr>
          <a:xfrm>
            <a:off x="7955279" y="1344168"/>
            <a:ext cx="3611880" cy="292608"/>
          </a:xfrm>
          <a:prstGeom prst="rect">
            <a:avLst/>
          </a:prstGeom>
          <a:noFill/>
        </p:spPr>
        <p:txBody>
          <a:bodyPr wrap="square" anchor="t"/>
          <a:lstStyle/>
          <a:p>
            <a:pPr algn="l">
              <a:spcBef>
                <a:spcPts val="0"/>
              </a:spcBef>
              <a:spcAft>
                <a:spcPts val="0"/>
              </a:spcAft>
            </a:pPr>
            <a:r>
              <a:rPr sz="1400" b="0" i="0">
                <a:solidFill>
                  <a:srgbClr val="C5D0DC"/>
                </a:solidFill>
                <a:latin typeface="Cambria"/>
                <a:ea typeface="Cambria"/>
                <a:cs typeface="Cambria"/>
              </a:rPr>
              <a:t>not act on a stage</a:t>
            </a:r>
          </a:p>
        </p:txBody>
      </p:sp>
      <p:sp>
        <p:nvSpPr>
          <p:cNvPr id="16" name="TextBox 15"/>
          <p:cNvSpPr txBox="1"/>
          <p:nvPr/>
        </p:nvSpPr>
        <p:spPr>
          <a:xfrm>
            <a:off x="7955279" y="1856231"/>
            <a:ext cx="3611880" cy="292608"/>
          </a:xfrm>
          <a:prstGeom prst="rect">
            <a:avLst/>
          </a:prstGeom>
          <a:noFill/>
        </p:spPr>
        <p:txBody>
          <a:bodyPr wrap="square" anchor="t"/>
          <a:lstStyle/>
          <a:p>
            <a:pPr algn="l">
              <a:spcBef>
                <a:spcPts val="0"/>
              </a:spcBef>
              <a:spcAft>
                <a:spcPts val="0"/>
              </a:spcAft>
            </a:pPr>
            <a:r>
              <a:rPr sz="1600" b="1" i="0">
                <a:solidFill>
                  <a:srgbClr val="F4EBD0"/>
                </a:solidFill>
                <a:latin typeface="Georgia"/>
                <a:ea typeface="Georgia"/>
                <a:cs typeface="Georgia"/>
              </a:rPr>
              <a:t>Time watched</a:t>
            </a:r>
          </a:p>
        </p:txBody>
      </p:sp>
      <p:sp>
        <p:nvSpPr>
          <p:cNvPr id="17" name="TextBox 16"/>
          <p:cNvSpPr txBox="1"/>
          <p:nvPr/>
        </p:nvSpPr>
        <p:spPr>
          <a:xfrm>
            <a:off x="7955279" y="2148839"/>
            <a:ext cx="3611880" cy="292608"/>
          </a:xfrm>
          <a:prstGeom prst="rect">
            <a:avLst/>
          </a:prstGeom>
          <a:noFill/>
        </p:spPr>
        <p:txBody>
          <a:bodyPr wrap="square" anchor="t"/>
          <a:lstStyle/>
          <a:p>
            <a:pPr algn="l">
              <a:spcBef>
                <a:spcPts val="0"/>
              </a:spcBef>
              <a:spcAft>
                <a:spcPts val="0"/>
              </a:spcAft>
            </a:pPr>
            <a:r>
              <a:rPr sz="1400" b="0" i="0">
                <a:solidFill>
                  <a:srgbClr val="C5D0DC"/>
                </a:solidFill>
                <a:latin typeface="Cambria"/>
                <a:ea typeface="Cambria"/>
                <a:cs typeface="Cambria"/>
              </a:rPr>
              <a:t>not an 80% lock</a:t>
            </a:r>
          </a:p>
        </p:txBody>
      </p:sp>
      <p:sp>
        <p:nvSpPr>
          <p:cNvPr id="18" name="TextBox 17"/>
          <p:cNvSpPr txBox="1"/>
          <p:nvPr/>
        </p:nvSpPr>
        <p:spPr>
          <a:xfrm>
            <a:off x="7955279" y="2660903"/>
            <a:ext cx="3611880" cy="292608"/>
          </a:xfrm>
          <a:prstGeom prst="rect">
            <a:avLst/>
          </a:prstGeom>
          <a:noFill/>
        </p:spPr>
        <p:txBody>
          <a:bodyPr wrap="square" anchor="t"/>
          <a:lstStyle/>
          <a:p>
            <a:pPr algn="l">
              <a:spcBef>
                <a:spcPts val="0"/>
              </a:spcBef>
              <a:spcAft>
                <a:spcPts val="0"/>
              </a:spcAft>
            </a:pPr>
            <a:r>
              <a:rPr sz="1600" b="1" i="0">
                <a:solidFill>
                  <a:srgbClr val="F4EBD0"/>
                </a:solidFill>
                <a:latin typeface="Georgia"/>
                <a:ea typeface="Georgia"/>
                <a:cs typeface="Georgia"/>
              </a:rPr>
              <a:t>Cloud as a gate</a:t>
            </a:r>
          </a:p>
        </p:txBody>
      </p:sp>
      <p:sp>
        <p:nvSpPr>
          <p:cNvPr id="19" name="TextBox 18"/>
          <p:cNvSpPr txBox="1"/>
          <p:nvPr/>
        </p:nvSpPr>
        <p:spPr>
          <a:xfrm>
            <a:off x="7955279" y="2953511"/>
            <a:ext cx="3611880" cy="292608"/>
          </a:xfrm>
          <a:prstGeom prst="rect">
            <a:avLst/>
          </a:prstGeom>
          <a:noFill/>
        </p:spPr>
        <p:txBody>
          <a:bodyPr wrap="square" anchor="t"/>
          <a:lstStyle/>
          <a:p>
            <a:pPr algn="l">
              <a:spcBef>
                <a:spcPts val="0"/>
              </a:spcBef>
              <a:spcAft>
                <a:spcPts val="0"/>
              </a:spcAft>
            </a:pPr>
            <a:r>
              <a:rPr sz="1400" b="0" i="0">
                <a:solidFill>
                  <a:srgbClr val="C5D0DC"/>
                </a:solidFill>
                <a:latin typeface="Cambria"/>
                <a:ea typeface="Cambria"/>
                <a:cs typeface="Cambria"/>
              </a:rPr>
              <a:t>not a bonus</a:t>
            </a:r>
          </a:p>
        </p:txBody>
      </p:sp>
      <p:sp>
        <p:nvSpPr>
          <p:cNvPr id="20" name="TextBox 19"/>
          <p:cNvSpPr txBox="1"/>
          <p:nvPr/>
        </p:nvSpPr>
        <p:spPr>
          <a:xfrm>
            <a:off x="7955279" y="3465575"/>
            <a:ext cx="3611880" cy="292608"/>
          </a:xfrm>
          <a:prstGeom prst="rect">
            <a:avLst/>
          </a:prstGeom>
          <a:noFill/>
        </p:spPr>
        <p:txBody>
          <a:bodyPr wrap="square" anchor="t"/>
          <a:lstStyle/>
          <a:p>
            <a:pPr algn="l">
              <a:spcBef>
                <a:spcPts val="0"/>
              </a:spcBef>
              <a:spcAft>
                <a:spcPts val="0"/>
              </a:spcAft>
            </a:pPr>
            <a:r>
              <a:rPr sz="1600" b="1" i="0">
                <a:solidFill>
                  <a:srgbClr val="F4EBD0"/>
                </a:solidFill>
                <a:latin typeface="Georgia"/>
                <a:ea typeface="Georgia"/>
                <a:cs typeface="Georgia"/>
              </a:rPr>
              <a:t>3D everywhere or never</a:t>
            </a:r>
          </a:p>
        </p:txBody>
      </p:sp>
      <p:sp>
        <p:nvSpPr>
          <p:cNvPr id="21" name="TextBox 20"/>
          <p:cNvSpPr txBox="1"/>
          <p:nvPr/>
        </p:nvSpPr>
        <p:spPr>
          <a:xfrm>
            <a:off x="7955279" y="3758183"/>
            <a:ext cx="3611880" cy="292608"/>
          </a:xfrm>
          <a:prstGeom prst="rect">
            <a:avLst/>
          </a:prstGeom>
          <a:noFill/>
        </p:spPr>
        <p:txBody>
          <a:bodyPr wrap="square" anchor="t"/>
          <a:lstStyle/>
          <a:p>
            <a:pPr algn="l">
              <a:spcBef>
                <a:spcPts val="0"/>
              </a:spcBef>
              <a:spcAft>
                <a:spcPts val="0"/>
              </a:spcAft>
            </a:pPr>
            <a:r>
              <a:rPr sz="1400" b="0" i="0">
                <a:solidFill>
                  <a:srgbClr val="C5D0DC"/>
                </a:solidFill>
                <a:latin typeface="Cambria"/>
                <a:ea typeface="Cambria"/>
                <a:cs typeface="Cambria"/>
              </a:rPr>
              <a:t>not a lab beside 2D</a:t>
            </a:r>
          </a:p>
        </p:txBody>
      </p:sp>
      <p:sp>
        <p:nvSpPr>
          <p:cNvPr id="22" name="TextBox 21"/>
          <p:cNvSpPr txBox="1"/>
          <p:nvPr/>
        </p:nvSpPr>
        <p:spPr>
          <a:xfrm>
            <a:off x="7955279" y="4270248"/>
            <a:ext cx="3611880" cy="292608"/>
          </a:xfrm>
          <a:prstGeom prst="rect">
            <a:avLst/>
          </a:prstGeom>
          <a:noFill/>
        </p:spPr>
        <p:txBody>
          <a:bodyPr wrap="square" anchor="t"/>
          <a:lstStyle/>
          <a:p>
            <a:pPr algn="l">
              <a:spcBef>
                <a:spcPts val="0"/>
              </a:spcBef>
              <a:spcAft>
                <a:spcPts val="0"/>
              </a:spcAft>
            </a:pPr>
            <a:r>
              <a:rPr sz="1600" b="1" i="0">
                <a:solidFill>
                  <a:srgbClr val="F4EBD0"/>
                </a:solidFill>
                <a:latin typeface="Georgia"/>
                <a:ea typeface="Georgia"/>
                <a:cs typeface="Georgia"/>
              </a:rPr>
              <a:t>English UI, Bangla afterthought</a:t>
            </a:r>
          </a:p>
        </p:txBody>
      </p:sp>
      <p:sp>
        <p:nvSpPr>
          <p:cNvPr id="23" name="TextBox 22"/>
          <p:cNvSpPr txBox="1"/>
          <p:nvPr/>
        </p:nvSpPr>
        <p:spPr>
          <a:xfrm>
            <a:off x="7955279" y="4562856"/>
            <a:ext cx="3611880" cy="292608"/>
          </a:xfrm>
          <a:prstGeom prst="rect">
            <a:avLst/>
          </a:prstGeom>
          <a:noFill/>
        </p:spPr>
        <p:txBody>
          <a:bodyPr wrap="square" anchor="t"/>
          <a:lstStyle/>
          <a:p>
            <a:pPr algn="l">
              <a:spcBef>
                <a:spcPts val="0"/>
              </a:spcBef>
              <a:spcAft>
                <a:spcPts val="0"/>
              </a:spcAft>
            </a:pPr>
            <a:r>
              <a:rPr sz="1400" b="0" i="0">
                <a:solidFill>
                  <a:srgbClr val="C5D0DC"/>
                </a:solidFill>
                <a:latin typeface="Cambria"/>
                <a:ea typeface="Cambria"/>
                <a:cs typeface="Cambria"/>
              </a:rPr>
              <a:t>not two modes</a:t>
            </a:r>
          </a:p>
        </p:txBody>
      </p:sp>
      <p:sp>
        <p:nvSpPr>
          <p:cNvPr id="24" name="TextBox 23"/>
          <p:cNvSpPr txBox="1"/>
          <p:nvPr/>
        </p:nvSpPr>
        <p:spPr>
          <a:xfrm>
            <a:off x="7955279" y="5074920"/>
            <a:ext cx="3611880" cy="292608"/>
          </a:xfrm>
          <a:prstGeom prst="rect">
            <a:avLst/>
          </a:prstGeom>
          <a:noFill/>
        </p:spPr>
        <p:txBody>
          <a:bodyPr wrap="square" anchor="t"/>
          <a:lstStyle/>
          <a:p>
            <a:pPr algn="l">
              <a:spcBef>
                <a:spcPts val="0"/>
              </a:spcBef>
              <a:spcAft>
                <a:spcPts val="0"/>
              </a:spcAft>
            </a:pPr>
            <a:r>
              <a:rPr sz="1600" b="1" i="0">
                <a:solidFill>
                  <a:srgbClr val="F4EBD0"/>
                </a:solidFill>
                <a:latin typeface="Georgia"/>
                <a:ea typeface="Georgia"/>
                <a:cs typeface="Georgia"/>
              </a:rPr>
              <a:t>One app per topic</a:t>
            </a:r>
          </a:p>
        </p:txBody>
      </p:sp>
      <p:sp>
        <p:nvSpPr>
          <p:cNvPr id="25" name="TextBox 24"/>
          <p:cNvSpPr txBox="1"/>
          <p:nvPr/>
        </p:nvSpPr>
        <p:spPr>
          <a:xfrm>
            <a:off x="7955279" y="5367528"/>
            <a:ext cx="3611880" cy="292608"/>
          </a:xfrm>
          <a:prstGeom prst="rect">
            <a:avLst/>
          </a:prstGeom>
          <a:noFill/>
        </p:spPr>
        <p:txBody>
          <a:bodyPr wrap="square" anchor="t"/>
          <a:lstStyle/>
          <a:p>
            <a:pPr algn="l">
              <a:spcBef>
                <a:spcPts val="0"/>
              </a:spcBef>
              <a:spcAft>
                <a:spcPts val="0"/>
              </a:spcAft>
            </a:pPr>
            <a:r>
              <a:rPr sz="1400" b="0" i="0">
                <a:solidFill>
                  <a:srgbClr val="C5D0DC"/>
                </a:solidFill>
                <a:latin typeface="Cambria"/>
                <a:ea typeface="Cambria"/>
                <a:cs typeface="Cambria"/>
              </a:rPr>
              <a:t>not one engine</a:t>
            </a:r>
          </a:p>
        </p:txBody>
      </p:sp>
      <p:sp>
        <p:nvSpPr>
          <p:cNvPr id="26" name="TextBox 25"/>
          <p:cNvSpPr txBox="1"/>
          <p:nvPr/>
        </p:nvSpPr>
        <p:spPr>
          <a:xfrm>
            <a:off x="502920" y="6565392"/>
            <a:ext cx="9601200" cy="237744"/>
          </a:xfrm>
          <a:prstGeom prst="rect">
            <a:avLst/>
          </a:prstGeom>
          <a:noFill/>
        </p:spPr>
        <p:txBody>
          <a:bodyPr wrap="square" anchor="t"/>
          <a:lstStyle/>
          <a:p>
            <a:pPr algn="l">
              <a:spcBef>
                <a:spcPts val="0"/>
              </a:spcBef>
              <a:spcAft>
                <a:spcPts val="0"/>
              </a:spcAft>
            </a:pPr>
            <a:r>
              <a:rPr sz="1100" b="0" i="0">
                <a:solidFill>
                  <a:srgbClr val="5C6B7A"/>
                </a:solidFill>
                <a:latin typeface="Cambria"/>
                <a:ea typeface="Cambria"/>
                <a:cs typeface="Cambria"/>
              </a:rPr>
              <a:t>BrainChild 2.0  ·  Team Alpha  ·  University of Frontier Technology, Bangladesh</a:t>
            </a:r>
          </a:p>
        </p:txBody>
      </p:sp>
      <p:sp>
        <p:nvSpPr>
          <p:cNvPr id="27" name="TextBox 26"/>
          <p:cNvSpPr txBox="1"/>
          <p:nvPr/>
        </p:nvSpPr>
        <p:spPr>
          <a:xfrm>
            <a:off x="10469880" y="6565392"/>
            <a:ext cx="1188720" cy="237744"/>
          </a:xfrm>
          <a:prstGeom prst="rect">
            <a:avLst/>
          </a:prstGeom>
          <a:noFill/>
        </p:spPr>
        <p:txBody>
          <a:bodyPr wrap="square" anchor="t"/>
          <a:lstStyle/>
          <a:p>
            <a:pPr algn="r">
              <a:spcBef>
                <a:spcPts val="0"/>
              </a:spcBef>
              <a:spcAft>
                <a:spcPts val="0"/>
              </a:spcAft>
            </a:pPr>
            <a:r>
              <a:rPr sz="1100" b="0" i="0">
                <a:solidFill>
                  <a:srgbClr val="5C6B7A"/>
                </a:solidFill>
                <a:latin typeface="Cambria"/>
                <a:ea typeface="Cambria"/>
                <a:cs typeface="Cambria"/>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56032"/>
          </a:xfrm>
          <a:prstGeom prst="rect">
            <a:avLst/>
          </a:prstGeom>
          <a:noFill/>
        </p:spPr>
        <p:txBody>
          <a:bodyPr wrap="square" anchor="t"/>
          <a:lstStyle/>
          <a:p>
            <a:pPr algn="l">
              <a:spcBef>
                <a:spcPts val="0"/>
              </a:spcBef>
              <a:spcAft>
                <a:spcPts val="0"/>
              </a:spcAft>
            </a:pPr>
            <a:r>
              <a:rPr sz="1200" b="1" i="0">
                <a:solidFill>
                  <a:srgbClr val="5C6B7A"/>
                </a:solidFill>
                <a:latin typeface="Cambria"/>
                <a:ea typeface="Cambria"/>
                <a:cs typeface="Cambria"/>
              </a:rPr>
              <a:t>THE PRODUCT</a:t>
            </a:r>
          </a:p>
        </p:txBody>
      </p:sp>
      <p:sp>
        <p:nvSpPr>
          <p:cNvPr id="4" name="TextBox 3"/>
          <p:cNvSpPr txBox="1"/>
          <p:nvPr/>
        </p:nvSpPr>
        <p:spPr>
          <a:xfrm>
            <a:off x="502920" y="502920"/>
            <a:ext cx="11155680" cy="777240"/>
          </a:xfrm>
          <a:prstGeom prst="rect">
            <a:avLst/>
          </a:prstGeom>
          <a:noFill/>
        </p:spPr>
        <p:txBody>
          <a:bodyPr wrap="square" anchor="t"/>
          <a:lstStyle/>
          <a:p>
            <a:pPr algn="l">
              <a:spcBef>
                <a:spcPts val="0"/>
              </a:spcBef>
              <a:spcAft>
                <a:spcPts val="0"/>
              </a:spcAft>
            </a:pPr>
            <a:r>
              <a:rPr sz="3000" b="1" i="0">
                <a:solidFill>
                  <a:srgbClr val="1E3A5F"/>
                </a:solidFill>
                <a:latin typeface="Georgia"/>
                <a:ea typeface="Georgia"/>
                <a:cs typeface="Georgia"/>
              </a:rPr>
              <a:t>GyanQuest is one engine, 28 live titles, four layers.</a:t>
            </a:r>
          </a:p>
        </p:txBody>
      </p:sp>
      <p:sp>
        <p:nvSpPr>
          <p:cNvPr id="5" name="TextBox 4"/>
          <p:cNvSpPr txBox="1"/>
          <p:nvPr/>
        </p:nvSpPr>
        <p:spPr>
          <a:xfrm>
            <a:off x="502920" y="1371600"/>
            <a:ext cx="2148840" cy="640080"/>
          </a:xfrm>
          <a:prstGeom prst="rect">
            <a:avLst/>
          </a:prstGeom>
          <a:noFill/>
        </p:spPr>
        <p:txBody>
          <a:bodyPr wrap="square" anchor="t"/>
          <a:lstStyle/>
          <a:p>
            <a:pPr algn="l">
              <a:spcBef>
                <a:spcPts val="0"/>
              </a:spcBef>
              <a:spcAft>
                <a:spcPts val="0"/>
              </a:spcAft>
            </a:pPr>
            <a:r>
              <a:rPr sz="3600" b="1" i="0">
                <a:solidFill>
                  <a:srgbClr val="1E3A5F"/>
                </a:solidFill>
                <a:latin typeface="Georgia"/>
                <a:ea typeface="Georgia"/>
                <a:cs typeface="Georgia"/>
              </a:rPr>
              <a:t>28</a:t>
            </a:r>
          </a:p>
        </p:txBody>
      </p:sp>
      <p:sp>
        <p:nvSpPr>
          <p:cNvPr id="6" name="TextBox 5"/>
          <p:cNvSpPr txBox="1"/>
          <p:nvPr/>
        </p:nvSpPr>
        <p:spPr>
          <a:xfrm>
            <a:off x="502920" y="2011680"/>
            <a:ext cx="2148840" cy="320040"/>
          </a:xfrm>
          <a:prstGeom prst="rect">
            <a:avLst/>
          </a:prstGeom>
          <a:noFill/>
        </p:spPr>
        <p:txBody>
          <a:bodyPr wrap="square" anchor="t"/>
          <a:lstStyle/>
          <a:p>
            <a:pPr algn="l">
              <a:spcBef>
                <a:spcPts val="0"/>
              </a:spcBef>
              <a:spcAft>
                <a:spcPts val="0"/>
              </a:spcAft>
            </a:pPr>
            <a:r>
              <a:rPr sz="1300" b="0" i="0">
                <a:solidFill>
                  <a:srgbClr val="5C6B7A"/>
                </a:solidFill>
                <a:latin typeface="Cambria"/>
                <a:ea typeface="Cambria"/>
                <a:cs typeface="Cambria"/>
              </a:rPr>
              <a:t>subject titles</a:t>
            </a:r>
          </a:p>
        </p:txBody>
      </p:sp>
      <p:sp>
        <p:nvSpPr>
          <p:cNvPr id="7" name="TextBox 6"/>
          <p:cNvSpPr txBox="1"/>
          <p:nvPr/>
        </p:nvSpPr>
        <p:spPr>
          <a:xfrm>
            <a:off x="2807208" y="1371600"/>
            <a:ext cx="2148840" cy="640080"/>
          </a:xfrm>
          <a:prstGeom prst="rect">
            <a:avLst/>
          </a:prstGeom>
          <a:noFill/>
        </p:spPr>
        <p:txBody>
          <a:bodyPr wrap="square" anchor="t"/>
          <a:lstStyle/>
          <a:p>
            <a:pPr algn="l">
              <a:spcBef>
                <a:spcPts val="0"/>
              </a:spcBef>
              <a:spcAft>
                <a:spcPts val="0"/>
              </a:spcAft>
            </a:pPr>
            <a:r>
              <a:rPr sz="3600" b="1" i="0">
                <a:solidFill>
                  <a:srgbClr val="1E3A5F"/>
                </a:solidFill>
                <a:latin typeface="Georgia"/>
                <a:ea typeface="Georgia"/>
                <a:cs typeface="Georgia"/>
              </a:rPr>
              <a:t>16</a:t>
            </a:r>
          </a:p>
        </p:txBody>
      </p:sp>
      <p:sp>
        <p:nvSpPr>
          <p:cNvPr id="8" name="TextBox 7"/>
          <p:cNvSpPr txBox="1"/>
          <p:nvPr/>
        </p:nvSpPr>
        <p:spPr>
          <a:xfrm>
            <a:off x="2807208" y="2011680"/>
            <a:ext cx="2148840" cy="320040"/>
          </a:xfrm>
          <a:prstGeom prst="rect">
            <a:avLst/>
          </a:prstGeom>
          <a:noFill/>
        </p:spPr>
        <p:txBody>
          <a:bodyPr wrap="square" anchor="t"/>
          <a:lstStyle/>
          <a:p>
            <a:pPr algn="l">
              <a:spcBef>
                <a:spcPts val="0"/>
              </a:spcBef>
              <a:spcAft>
                <a:spcPts val="0"/>
              </a:spcAft>
            </a:pPr>
            <a:r>
              <a:rPr sz="1300" b="0" i="0">
                <a:solidFill>
                  <a:srgbClr val="5C6B7A"/>
                </a:solidFill>
                <a:latin typeface="Cambria"/>
                <a:ea typeface="Cambria"/>
                <a:cs typeface="Cambria"/>
              </a:rPr>
              <a:t>uniqueness-pass</a:t>
            </a:r>
          </a:p>
        </p:txBody>
      </p:sp>
      <p:sp>
        <p:nvSpPr>
          <p:cNvPr id="9" name="TextBox 8"/>
          <p:cNvSpPr txBox="1"/>
          <p:nvPr/>
        </p:nvSpPr>
        <p:spPr>
          <a:xfrm>
            <a:off x="5111496" y="1371600"/>
            <a:ext cx="2148840" cy="640080"/>
          </a:xfrm>
          <a:prstGeom prst="rect">
            <a:avLst/>
          </a:prstGeom>
          <a:noFill/>
        </p:spPr>
        <p:txBody>
          <a:bodyPr wrap="square" anchor="t"/>
          <a:lstStyle/>
          <a:p>
            <a:pPr algn="l">
              <a:spcBef>
                <a:spcPts val="0"/>
              </a:spcBef>
              <a:spcAft>
                <a:spcPts val="0"/>
              </a:spcAft>
            </a:pPr>
            <a:r>
              <a:rPr sz="3600" b="1" i="0">
                <a:solidFill>
                  <a:srgbClr val="1E3A5F"/>
                </a:solidFill>
                <a:latin typeface="Georgia"/>
                <a:ea typeface="Georgia"/>
                <a:cs typeface="Georgia"/>
              </a:rPr>
              <a:t>25</a:t>
            </a:r>
          </a:p>
        </p:txBody>
      </p:sp>
      <p:sp>
        <p:nvSpPr>
          <p:cNvPr id="10" name="TextBox 9"/>
          <p:cNvSpPr txBox="1"/>
          <p:nvPr/>
        </p:nvSpPr>
        <p:spPr>
          <a:xfrm>
            <a:off x="5111496" y="2011680"/>
            <a:ext cx="2148840" cy="320040"/>
          </a:xfrm>
          <a:prstGeom prst="rect">
            <a:avLst/>
          </a:prstGeom>
          <a:noFill/>
        </p:spPr>
        <p:txBody>
          <a:bodyPr wrap="square" anchor="t"/>
          <a:lstStyle/>
          <a:p>
            <a:pPr algn="l">
              <a:spcBef>
                <a:spcPts val="0"/>
              </a:spcBef>
              <a:spcAft>
                <a:spcPts val="0"/>
              </a:spcAft>
            </a:pPr>
            <a:r>
              <a:rPr sz="1300" b="0" i="0">
                <a:solidFill>
                  <a:srgbClr val="5C6B7A"/>
                </a:solidFill>
                <a:latin typeface="Cambria"/>
                <a:ea typeface="Cambria"/>
                <a:cs typeface="Cambria"/>
              </a:rPr>
              <a:t>finished missions</a:t>
            </a:r>
          </a:p>
        </p:txBody>
      </p:sp>
      <p:sp>
        <p:nvSpPr>
          <p:cNvPr id="11" name="TextBox 10"/>
          <p:cNvSpPr txBox="1"/>
          <p:nvPr/>
        </p:nvSpPr>
        <p:spPr>
          <a:xfrm>
            <a:off x="7415784" y="1371600"/>
            <a:ext cx="2148840" cy="640080"/>
          </a:xfrm>
          <a:prstGeom prst="rect">
            <a:avLst/>
          </a:prstGeom>
          <a:noFill/>
        </p:spPr>
        <p:txBody>
          <a:bodyPr wrap="square" anchor="t"/>
          <a:lstStyle/>
          <a:p>
            <a:pPr algn="l">
              <a:spcBef>
                <a:spcPts val="0"/>
              </a:spcBef>
              <a:spcAft>
                <a:spcPts val="0"/>
              </a:spcAft>
            </a:pPr>
            <a:r>
              <a:rPr sz="3600" b="1" i="0">
                <a:solidFill>
                  <a:srgbClr val="1E3A5F"/>
                </a:solidFill>
                <a:latin typeface="Georgia"/>
                <a:ea typeface="Georgia"/>
                <a:cs typeface="Georgia"/>
              </a:rPr>
              <a:t>80%</a:t>
            </a:r>
          </a:p>
        </p:txBody>
      </p:sp>
      <p:sp>
        <p:nvSpPr>
          <p:cNvPr id="12" name="TextBox 11"/>
          <p:cNvSpPr txBox="1"/>
          <p:nvPr/>
        </p:nvSpPr>
        <p:spPr>
          <a:xfrm>
            <a:off x="7415784" y="2011680"/>
            <a:ext cx="2148840" cy="320040"/>
          </a:xfrm>
          <a:prstGeom prst="rect">
            <a:avLst/>
          </a:prstGeom>
          <a:noFill/>
        </p:spPr>
        <p:txBody>
          <a:bodyPr wrap="square" anchor="t"/>
          <a:lstStyle/>
          <a:p>
            <a:pPr algn="l">
              <a:spcBef>
                <a:spcPts val="0"/>
              </a:spcBef>
              <a:spcAft>
                <a:spcPts val="0"/>
              </a:spcAft>
            </a:pPr>
            <a:r>
              <a:rPr sz="1300" b="0" i="0">
                <a:solidFill>
                  <a:srgbClr val="5C6B7A"/>
                </a:solidFill>
                <a:latin typeface="Cambria"/>
                <a:ea typeface="Cambria"/>
                <a:cs typeface="Cambria"/>
              </a:rPr>
              <a:t>fluency gate</a:t>
            </a:r>
          </a:p>
        </p:txBody>
      </p:sp>
      <p:sp>
        <p:nvSpPr>
          <p:cNvPr id="13" name="TextBox 12"/>
          <p:cNvSpPr txBox="1"/>
          <p:nvPr/>
        </p:nvSpPr>
        <p:spPr>
          <a:xfrm>
            <a:off x="9720072" y="1371600"/>
            <a:ext cx="2148840" cy="640080"/>
          </a:xfrm>
          <a:prstGeom prst="rect">
            <a:avLst/>
          </a:prstGeom>
          <a:noFill/>
        </p:spPr>
        <p:txBody>
          <a:bodyPr wrap="square" anchor="t"/>
          <a:lstStyle/>
          <a:p>
            <a:pPr algn="l">
              <a:spcBef>
                <a:spcPts val="0"/>
              </a:spcBef>
              <a:spcAft>
                <a:spcPts val="0"/>
              </a:spcAft>
            </a:pPr>
            <a:r>
              <a:rPr sz="3600" b="1" i="0">
                <a:solidFill>
                  <a:srgbClr val="1E3A5F"/>
                </a:solidFill>
                <a:latin typeface="Georgia"/>
                <a:ea typeface="Georgia"/>
                <a:cs typeface="Georgia"/>
              </a:rPr>
              <a:t>2</a:t>
            </a:r>
          </a:p>
        </p:txBody>
      </p:sp>
      <p:sp>
        <p:nvSpPr>
          <p:cNvPr id="14" name="TextBox 13"/>
          <p:cNvSpPr txBox="1"/>
          <p:nvPr/>
        </p:nvSpPr>
        <p:spPr>
          <a:xfrm>
            <a:off x="9720072" y="2011680"/>
            <a:ext cx="2148840" cy="320040"/>
          </a:xfrm>
          <a:prstGeom prst="rect">
            <a:avLst/>
          </a:prstGeom>
          <a:noFill/>
        </p:spPr>
        <p:txBody>
          <a:bodyPr wrap="square" anchor="t"/>
          <a:lstStyle/>
          <a:p>
            <a:pPr algn="l">
              <a:spcBef>
                <a:spcPts val="0"/>
              </a:spcBef>
              <a:spcAft>
                <a:spcPts val="0"/>
              </a:spcAft>
            </a:pPr>
            <a:r>
              <a:rPr sz="1300" b="0" i="0">
                <a:solidFill>
                  <a:srgbClr val="5C6B7A"/>
                </a:solidFill>
                <a:latin typeface="Cambria"/>
                <a:ea typeface="Cambria"/>
                <a:cs typeface="Cambria"/>
              </a:rPr>
              <a:t>language modes</a:t>
            </a:r>
          </a:p>
        </p:txBody>
      </p:sp>
      <p:sp>
        <p:nvSpPr>
          <p:cNvPr id="15" name="TextBox 14"/>
          <p:cNvSpPr txBox="1"/>
          <p:nvPr/>
        </p:nvSpPr>
        <p:spPr>
          <a:xfrm>
            <a:off x="502920" y="2423160"/>
            <a:ext cx="11155680" cy="320040"/>
          </a:xfrm>
          <a:prstGeom prst="rect">
            <a:avLst/>
          </a:prstGeom>
          <a:noFill/>
        </p:spPr>
        <p:txBody>
          <a:bodyPr wrap="square" anchor="t"/>
          <a:lstStyle/>
          <a:p>
            <a:pPr algn="l">
              <a:spcBef>
                <a:spcPts val="0"/>
              </a:spcBef>
              <a:spcAft>
                <a:spcPts val="0"/>
              </a:spcAft>
            </a:pPr>
            <a:r>
              <a:rPr sz="1500" b="0" i="0">
                <a:solidFill>
                  <a:srgbClr val="1B2838"/>
                </a:solidFill>
                <a:latin typeface="Cambria"/>
                <a:ea typeface="Cambria"/>
                <a:cs typeface="Cambria"/>
              </a:rPr>
              <a:t>Landing  →  mission hub  →  Canvas 2D  →  coach  →  digital book  →  optional Groq tutor. Progress stays local.</a:t>
            </a:r>
          </a:p>
        </p:txBody>
      </p:sp>
      <p:sp>
        <p:nvSpPr>
          <p:cNvPr id="16" name="TextBox 15"/>
          <p:cNvSpPr txBox="1"/>
          <p:nvPr/>
        </p:nvSpPr>
        <p:spPr>
          <a:xfrm>
            <a:off x="502920" y="2852928"/>
            <a:ext cx="2651760" cy="384048"/>
          </a:xfrm>
          <a:prstGeom prst="rect">
            <a:avLst/>
          </a:prstGeom>
          <a:noFill/>
        </p:spPr>
        <p:txBody>
          <a:bodyPr wrap="square" anchor="t"/>
          <a:lstStyle/>
          <a:p>
            <a:pPr algn="l">
              <a:spcBef>
                <a:spcPts val="0"/>
              </a:spcBef>
              <a:spcAft>
                <a:spcPts val="0"/>
              </a:spcAft>
            </a:pPr>
            <a:r>
              <a:rPr sz="1400" b="1" i="0">
                <a:solidFill>
                  <a:srgbClr val="1E3A5F"/>
                </a:solidFill>
                <a:latin typeface="Georgia"/>
                <a:ea typeface="Georgia"/>
                <a:cs typeface="Georgia"/>
              </a:rPr>
              <a:t>Core science  5</a:t>
            </a:r>
          </a:p>
        </p:txBody>
      </p:sp>
      <p:sp>
        <p:nvSpPr>
          <p:cNvPr id="17" name="TextBox 16"/>
          <p:cNvSpPr txBox="1"/>
          <p:nvPr/>
        </p:nvSpPr>
        <p:spPr>
          <a:xfrm>
            <a:off x="3200400" y="2852928"/>
            <a:ext cx="4206240" cy="384048"/>
          </a:xfrm>
          <a:prstGeom prst="rect">
            <a:avLst/>
          </a:prstGeom>
          <a:noFill/>
        </p:spPr>
        <p:txBody>
          <a:bodyPr wrap="square" anchor="t"/>
          <a:lstStyle/>
          <a:p>
            <a:pPr algn="l">
              <a:spcBef>
                <a:spcPts val="0"/>
              </a:spcBef>
              <a:spcAft>
                <a:spcPts val="0"/>
              </a:spcAft>
            </a:pPr>
            <a:r>
              <a:rPr sz="1400" b="0" i="0">
                <a:solidFill>
                  <a:srgbClr val="1B2838"/>
                </a:solidFill>
                <a:latin typeface="Cambria"/>
                <a:ea typeface="Cambria"/>
                <a:cs typeface="Cambria"/>
              </a:rPr>
              <a:t>Force, Chemistry, Bio, Math Quest, Eco</a:t>
            </a:r>
          </a:p>
        </p:txBody>
      </p:sp>
      <p:sp>
        <p:nvSpPr>
          <p:cNvPr id="18" name="TextBox 17"/>
          <p:cNvSpPr txBox="1"/>
          <p:nvPr/>
        </p:nvSpPr>
        <p:spPr>
          <a:xfrm>
            <a:off x="502920" y="3291840"/>
            <a:ext cx="2651760" cy="384048"/>
          </a:xfrm>
          <a:prstGeom prst="rect">
            <a:avLst/>
          </a:prstGeom>
          <a:noFill/>
        </p:spPr>
        <p:txBody>
          <a:bodyPr wrap="square" anchor="t"/>
          <a:lstStyle/>
          <a:p>
            <a:pPr algn="l">
              <a:spcBef>
                <a:spcPts val="0"/>
              </a:spcBef>
              <a:spcAft>
                <a:spcPts val="0"/>
              </a:spcAft>
            </a:pPr>
            <a:r>
              <a:rPr sz="1400" b="1" i="0">
                <a:solidFill>
                  <a:srgbClr val="1E3A5F"/>
                </a:solidFill>
                <a:latin typeface="Georgia"/>
                <a:ea typeface="Georgia"/>
                <a:cs typeface="Georgia"/>
              </a:rPr>
              <a:t>CS and tech  10</a:t>
            </a:r>
          </a:p>
        </p:txBody>
      </p:sp>
      <p:sp>
        <p:nvSpPr>
          <p:cNvPr id="19" name="TextBox 18"/>
          <p:cNvSpPr txBox="1"/>
          <p:nvPr/>
        </p:nvSpPr>
        <p:spPr>
          <a:xfrm>
            <a:off x="3200400" y="3291840"/>
            <a:ext cx="4206240" cy="384048"/>
          </a:xfrm>
          <a:prstGeom prst="rect">
            <a:avLst/>
          </a:prstGeom>
          <a:noFill/>
        </p:spPr>
        <p:txBody>
          <a:bodyPr wrap="square" anchor="t"/>
          <a:lstStyle/>
          <a:p>
            <a:pPr algn="l">
              <a:spcBef>
                <a:spcPts val="0"/>
              </a:spcBef>
              <a:spcAft>
                <a:spcPts val="0"/>
              </a:spcAft>
            </a:pPr>
            <a:r>
              <a:rPr sz="1400" b="0" i="0">
                <a:solidFill>
                  <a:srgbClr val="1B2838"/>
                </a:solidFill>
                <a:latin typeface="Cambria"/>
                <a:ea typeface="Cambria"/>
                <a:cs typeface="Cambria"/>
              </a:rPr>
              <a:t>ICT, Web, Backend, SQL, Net, Cyber, OS, AI, ML, Data</a:t>
            </a:r>
          </a:p>
        </p:txBody>
      </p:sp>
      <p:sp>
        <p:nvSpPr>
          <p:cNvPr id="20" name="TextBox 19"/>
          <p:cNvSpPr txBox="1"/>
          <p:nvPr/>
        </p:nvSpPr>
        <p:spPr>
          <a:xfrm>
            <a:off x="502920" y="3730752"/>
            <a:ext cx="2651760" cy="384048"/>
          </a:xfrm>
          <a:prstGeom prst="rect">
            <a:avLst/>
          </a:prstGeom>
          <a:noFill/>
        </p:spPr>
        <p:txBody>
          <a:bodyPr wrap="square" anchor="t"/>
          <a:lstStyle/>
          <a:p>
            <a:pPr algn="l">
              <a:spcBef>
                <a:spcPts val="0"/>
              </a:spcBef>
              <a:spcAft>
                <a:spcPts val="0"/>
              </a:spcAft>
            </a:pPr>
            <a:r>
              <a:rPr sz="1400" b="1" i="0">
                <a:solidFill>
                  <a:srgbClr val="1E3A5F"/>
                </a:solidFill>
                <a:latin typeface="Georgia"/>
                <a:ea typeface="Georgia"/>
                <a:cs typeface="Georgia"/>
              </a:rPr>
              <a:t>Engineering  5</a:t>
            </a:r>
          </a:p>
        </p:txBody>
      </p:sp>
      <p:sp>
        <p:nvSpPr>
          <p:cNvPr id="21" name="TextBox 20"/>
          <p:cNvSpPr txBox="1"/>
          <p:nvPr/>
        </p:nvSpPr>
        <p:spPr>
          <a:xfrm>
            <a:off x="3200400" y="3730752"/>
            <a:ext cx="4206240" cy="384048"/>
          </a:xfrm>
          <a:prstGeom prst="rect">
            <a:avLst/>
          </a:prstGeom>
          <a:noFill/>
        </p:spPr>
        <p:txBody>
          <a:bodyPr wrap="square" anchor="t"/>
          <a:lstStyle/>
          <a:p>
            <a:pPr algn="l">
              <a:spcBef>
                <a:spcPts val="0"/>
              </a:spcBef>
              <a:spcAft>
                <a:spcPts val="0"/>
              </a:spcAft>
            </a:pPr>
            <a:r>
              <a:rPr sz="1400" b="0" i="0">
                <a:solidFill>
                  <a:srgbClr val="1B2838"/>
                </a:solidFill>
                <a:latin typeface="Cambria"/>
                <a:ea typeface="Cambria"/>
                <a:cs typeface="Cambria"/>
              </a:rPr>
              <a:t>Electrical, Mechanical, Civil, Robotics, Green Tech</a:t>
            </a:r>
          </a:p>
        </p:txBody>
      </p:sp>
      <p:sp>
        <p:nvSpPr>
          <p:cNvPr id="22" name="TextBox 21"/>
          <p:cNvSpPr txBox="1"/>
          <p:nvPr/>
        </p:nvSpPr>
        <p:spPr>
          <a:xfrm>
            <a:off x="502920" y="4169664"/>
            <a:ext cx="2651760" cy="384048"/>
          </a:xfrm>
          <a:prstGeom prst="rect">
            <a:avLst/>
          </a:prstGeom>
          <a:noFill/>
        </p:spPr>
        <p:txBody>
          <a:bodyPr wrap="square" anchor="t"/>
          <a:lstStyle/>
          <a:p>
            <a:pPr algn="l">
              <a:spcBef>
                <a:spcPts val="0"/>
              </a:spcBef>
              <a:spcAft>
                <a:spcPts val="0"/>
              </a:spcAft>
            </a:pPr>
            <a:r>
              <a:rPr sz="1400" b="1" i="0">
                <a:solidFill>
                  <a:srgbClr val="1E3A5F"/>
                </a:solidFill>
                <a:latin typeface="Georgia"/>
                <a:ea typeface="Georgia"/>
                <a:cs typeface="Georgia"/>
              </a:rPr>
              <a:t>Adv. science  4</a:t>
            </a:r>
          </a:p>
        </p:txBody>
      </p:sp>
      <p:sp>
        <p:nvSpPr>
          <p:cNvPr id="23" name="TextBox 22"/>
          <p:cNvSpPr txBox="1"/>
          <p:nvPr/>
        </p:nvSpPr>
        <p:spPr>
          <a:xfrm>
            <a:off x="3200400" y="4169664"/>
            <a:ext cx="4206240" cy="384048"/>
          </a:xfrm>
          <a:prstGeom prst="rect">
            <a:avLst/>
          </a:prstGeom>
          <a:noFill/>
        </p:spPr>
        <p:txBody>
          <a:bodyPr wrap="square" anchor="t"/>
          <a:lstStyle/>
          <a:p>
            <a:pPr algn="l">
              <a:spcBef>
                <a:spcPts val="0"/>
              </a:spcBef>
              <a:spcAft>
                <a:spcPts val="0"/>
              </a:spcAft>
            </a:pPr>
            <a:r>
              <a:rPr sz="1400" b="0" i="0">
                <a:solidFill>
                  <a:srgbClr val="1B2838"/>
                </a:solidFill>
                <a:latin typeface="Cambria"/>
                <a:ea typeface="Cambria"/>
                <a:cs typeface="Cambria"/>
              </a:rPr>
              <a:t>Astronomy, Geology, Anatomy, Genetics</a:t>
            </a:r>
          </a:p>
        </p:txBody>
      </p:sp>
      <p:sp>
        <p:nvSpPr>
          <p:cNvPr id="24" name="TextBox 23"/>
          <p:cNvSpPr txBox="1"/>
          <p:nvPr/>
        </p:nvSpPr>
        <p:spPr>
          <a:xfrm>
            <a:off x="502920" y="4608576"/>
            <a:ext cx="2651760" cy="384048"/>
          </a:xfrm>
          <a:prstGeom prst="rect">
            <a:avLst/>
          </a:prstGeom>
          <a:noFill/>
        </p:spPr>
        <p:txBody>
          <a:bodyPr wrap="square" anchor="t"/>
          <a:lstStyle/>
          <a:p>
            <a:pPr algn="l">
              <a:spcBef>
                <a:spcPts val="0"/>
              </a:spcBef>
              <a:spcAft>
                <a:spcPts val="0"/>
              </a:spcAft>
            </a:pPr>
            <a:r>
              <a:rPr sz="1400" b="1" i="0">
                <a:solidFill>
                  <a:srgbClr val="1E3A5F"/>
                </a:solidFill>
                <a:latin typeface="Georgia"/>
                <a:ea typeface="Georgia"/>
                <a:cs typeface="Georgia"/>
              </a:rPr>
              <a:t>Math extended  4</a:t>
            </a:r>
          </a:p>
        </p:txBody>
      </p:sp>
      <p:sp>
        <p:nvSpPr>
          <p:cNvPr id="25" name="TextBox 24"/>
          <p:cNvSpPr txBox="1"/>
          <p:nvPr/>
        </p:nvSpPr>
        <p:spPr>
          <a:xfrm>
            <a:off x="3200400" y="4608576"/>
            <a:ext cx="4206240" cy="384048"/>
          </a:xfrm>
          <a:prstGeom prst="rect">
            <a:avLst/>
          </a:prstGeom>
          <a:noFill/>
        </p:spPr>
        <p:txBody>
          <a:bodyPr wrap="square" anchor="t"/>
          <a:lstStyle/>
          <a:p>
            <a:pPr algn="l">
              <a:spcBef>
                <a:spcPts val="0"/>
              </a:spcBef>
              <a:spcAft>
                <a:spcPts val="0"/>
              </a:spcAft>
            </a:pPr>
            <a:r>
              <a:rPr sz="1400" b="0" i="0">
                <a:solidFill>
                  <a:srgbClr val="1B2838"/>
                </a:solidFill>
                <a:latin typeface="Cambria"/>
                <a:ea typeface="Cambria"/>
                <a:cs typeface="Cambria"/>
              </a:rPr>
              <a:t>Statistics, Geometry, Calculus, Discrete</a:t>
            </a:r>
          </a:p>
        </p:txBody>
      </p:sp>
      <p:sp>
        <p:nvSpPr>
          <p:cNvPr id="26" name="Rectangle 25"/>
          <p:cNvSpPr/>
          <p:nvPr/>
        </p:nvSpPr>
        <p:spPr>
          <a:xfrm>
            <a:off x="7680960" y="2852928"/>
            <a:ext cx="4023360" cy="33832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82127" y="2999232"/>
            <a:ext cx="3657600" cy="292608"/>
          </a:xfrm>
          <a:prstGeom prst="rect">
            <a:avLst/>
          </a:prstGeom>
          <a:noFill/>
        </p:spPr>
        <p:txBody>
          <a:bodyPr wrap="square" anchor="t"/>
          <a:lstStyle/>
          <a:p>
            <a:pPr algn="l">
              <a:spcBef>
                <a:spcPts val="0"/>
              </a:spcBef>
              <a:spcAft>
                <a:spcPts val="0"/>
              </a:spcAft>
            </a:pPr>
            <a:r>
              <a:rPr sz="1300" b="1" i="0">
                <a:solidFill>
                  <a:srgbClr val="C4A35A"/>
                </a:solidFill>
                <a:latin typeface="Cambria"/>
                <a:ea typeface="Cambria"/>
                <a:cs typeface="Cambria"/>
              </a:rPr>
              <a:t>Four layers</a:t>
            </a:r>
          </a:p>
        </p:txBody>
      </p:sp>
      <p:sp>
        <p:nvSpPr>
          <p:cNvPr id="28" name="TextBox 27"/>
          <p:cNvSpPr txBox="1"/>
          <p:nvPr/>
        </p:nvSpPr>
        <p:spPr>
          <a:xfrm>
            <a:off x="7882127" y="3401568"/>
            <a:ext cx="3657600" cy="274320"/>
          </a:xfrm>
          <a:prstGeom prst="rect">
            <a:avLst/>
          </a:prstGeom>
          <a:noFill/>
        </p:spPr>
        <p:txBody>
          <a:bodyPr wrap="square" anchor="t"/>
          <a:lstStyle/>
          <a:p>
            <a:pPr algn="l">
              <a:spcBef>
                <a:spcPts val="0"/>
              </a:spcBef>
              <a:spcAft>
                <a:spcPts val="0"/>
              </a:spcAft>
            </a:pPr>
            <a:r>
              <a:rPr sz="1600" b="1" i="0">
                <a:solidFill>
                  <a:srgbClr val="F4EBD0"/>
                </a:solidFill>
                <a:latin typeface="Georgia"/>
                <a:ea typeface="Georgia"/>
                <a:cs typeface="Georgia"/>
              </a:rPr>
              <a:t>1  Canvas</a:t>
            </a:r>
          </a:p>
        </p:txBody>
      </p:sp>
      <p:sp>
        <p:nvSpPr>
          <p:cNvPr id="29" name="TextBox 28"/>
          <p:cNvSpPr txBox="1"/>
          <p:nvPr/>
        </p:nvSpPr>
        <p:spPr>
          <a:xfrm>
            <a:off x="7882127" y="3675888"/>
            <a:ext cx="3657600" cy="347472"/>
          </a:xfrm>
          <a:prstGeom prst="rect">
            <a:avLst/>
          </a:prstGeom>
          <a:noFill/>
        </p:spPr>
        <p:txBody>
          <a:bodyPr wrap="square" anchor="t"/>
          <a:lstStyle/>
          <a:p>
            <a:pPr algn="l">
              <a:spcBef>
                <a:spcPts val="0"/>
              </a:spcBef>
              <a:spcAft>
                <a:spcPts val="0"/>
              </a:spcAft>
            </a:pPr>
            <a:r>
              <a:rPr sz="1300" b="0" i="0">
                <a:solidFill>
                  <a:srgbClr val="C5D0DC"/>
                </a:solidFill>
                <a:latin typeface="Cambria"/>
                <a:ea typeface="Cambria"/>
                <a:cs typeface="Cambria"/>
              </a:rPr>
              <a:t>Source of truth. Drag, tap, myth-bust.</a:t>
            </a:r>
          </a:p>
        </p:txBody>
      </p:sp>
      <p:sp>
        <p:nvSpPr>
          <p:cNvPr id="30" name="TextBox 29"/>
          <p:cNvSpPr txBox="1"/>
          <p:nvPr/>
        </p:nvSpPr>
        <p:spPr>
          <a:xfrm>
            <a:off x="7882127" y="4078224"/>
            <a:ext cx="3657600" cy="274320"/>
          </a:xfrm>
          <a:prstGeom prst="rect">
            <a:avLst/>
          </a:prstGeom>
          <a:noFill/>
        </p:spPr>
        <p:txBody>
          <a:bodyPr wrap="square" anchor="t"/>
          <a:lstStyle/>
          <a:p>
            <a:pPr algn="l">
              <a:spcBef>
                <a:spcPts val="0"/>
              </a:spcBef>
              <a:spcAft>
                <a:spcPts val="0"/>
              </a:spcAft>
            </a:pPr>
            <a:r>
              <a:rPr sz="1600" b="1" i="0">
                <a:solidFill>
                  <a:srgbClr val="F4EBD0"/>
                </a:solidFill>
                <a:latin typeface="Georgia"/>
                <a:ea typeface="Georgia"/>
                <a:cs typeface="Georgia"/>
              </a:rPr>
              <a:t>2  Coach</a:t>
            </a:r>
          </a:p>
        </p:txBody>
      </p:sp>
      <p:sp>
        <p:nvSpPr>
          <p:cNvPr id="31" name="TextBox 30"/>
          <p:cNvSpPr txBox="1"/>
          <p:nvPr/>
        </p:nvSpPr>
        <p:spPr>
          <a:xfrm>
            <a:off x="7882127" y="4352544"/>
            <a:ext cx="3657600" cy="347472"/>
          </a:xfrm>
          <a:prstGeom prst="rect">
            <a:avLst/>
          </a:prstGeom>
          <a:noFill/>
        </p:spPr>
        <p:txBody>
          <a:bodyPr wrap="square" anchor="t"/>
          <a:lstStyle/>
          <a:p>
            <a:pPr algn="l">
              <a:spcBef>
                <a:spcPts val="0"/>
              </a:spcBef>
              <a:spcAft>
                <a:spcPts val="0"/>
              </a:spcAft>
            </a:pPr>
            <a:r>
              <a:rPr sz="1300" b="0" i="0">
                <a:solidFill>
                  <a:srgbClr val="C5D0DC"/>
                </a:solidFill>
                <a:latin typeface="Cambria"/>
                <a:ea typeface="Cambria"/>
                <a:cs typeface="Cambria"/>
              </a:rPr>
              <a:t>Streaks and misses. Live commentary.</a:t>
            </a:r>
          </a:p>
        </p:txBody>
      </p:sp>
      <p:sp>
        <p:nvSpPr>
          <p:cNvPr id="32" name="TextBox 31"/>
          <p:cNvSpPr txBox="1"/>
          <p:nvPr/>
        </p:nvSpPr>
        <p:spPr>
          <a:xfrm>
            <a:off x="7882127" y="4754880"/>
            <a:ext cx="3657600" cy="274320"/>
          </a:xfrm>
          <a:prstGeom prst="rect">
            <a:avLst/>
          </a:prstGeom>
          <a:noFill/>
        </p:spPr>
        <p:txBody>
          <a:bodyPr wrap="square" anchor="t"/>
          <a:lstStyle/>
          <a:p>
            <a:pPr algn="l">
              <a:spcBef>
                <a:spcPts val="0"/>
              </a:spcBef>
              <a:spcAft>
                <a:spcPts val="0"/>
              </a:spcAft>
            </a:pPr>
            <a:r>
              <a:rPr sz="1600" b="1" i="0">
                <a:solidFill>
                  <a:srgbClr val="F4EBD0"/>
                </a:solidFill>
                <a:latin typeface="Georgia"/>
                <a:ea typeface="Georgia"/>
                <a:cs typeface="Georgia"/>
              </a:rPr>
              <a:t>3  Book</a:t>
            </a:r>
          </a:p>
        </p:txBody>
      </p:sp>
      <p:sp>
        <p:nvSpPr>
          <p:cNvPr id="33" name="TextBox 32"/>
          <p:cNvSpPr txBox="1"/>
          <p:nvPr/>
        </p:nvSpPr>
        <p:spPr>
          <a:xfrm>
            <a:off x="7882127" y="5029200"/>
            <a:ext cx="3657600" cy="347472"/>
          </a:xfrm>
          <a:prstGeom prst="rect">
            <a:avLst/>
          </a:prstGeom>
          <a:noFill/>
        </p:spPr>
        <p:txBody>
          <a:bodyPr wrap="square" anchor="t"/>
          <a:lstStyle/>
          <a:p>
            <a:pPr algn="l">
              <a:spcBef>
                <a:spcPts val="0"/>
              </a:spcBef>
              <a:spcAft>
                <a:spcPts val="0"/>
              </a:spcAft>
            </a:pPr>
            <a:r>
              <a:rPr sz="1300" b="0" i="0">
                <a:solidFill>
                  <a:srgbClr val="C5D0DC"/>
                </a:solidFill>
                <a:latin typeface="Cambria"/>
                <a:ea typeface="Cambria"/>
                <a:cs typeface="Cambria"/>
              </a:rPr>
              <a:t>Retrieval + dual coding. Term links.</a:t>
            </a:r>
          </a:p>
        </p:txBody>
      </p:sp>
      <p:sp>
        <p:nvSpPr>
          <p:cNvPr id="34" name="TextBox 33"/>
          <p:cNvSpPr txBox="1"/>
          <p:nvPr/>
        </p:nvSpPr>
        <p:spPr>
          <a:xfrm>
            <a:off x="7882127" y="5431536"/>
            <a:ext cx="3657600" cy="274320"/>
          </a:xfrm>
          <a:prstGeom prst="rect">
            <a:avLst/>
          </a:prstGeom>
          <a:noFill/>
        </p:spPr>
        <p:txBody>
          <a:bodyPr wrap="square" anchor="t"/>
          <a:lstStyle/>
          <a:p>
            <a:pPr algn="l">
              <a:spcBef>
                <a:spcPts val="0"/>
              </a:spcBef>
              <a:spcAft>
                <a:spcPts val="0"/>
              </a:spcAft>
            </a:pPr>
            <a:r>
              <a:rPr sz="1600" b="1" i="0">
                <a:solidFill>
                  <a:srgbClr val="F4EBD0"/>
                </a:solidFill>
                <a:latin typeface="Georgia"/>
                <a:ea typeface="Georgia"/>
                <a:cs typeface="Georgia"/>
              </a:rPr>
              <a:t>4  AI tutor</a:t>
            </a:r>
          </a:p>
        </p:txBody>
      </p:sp>
      <p:sp>
        <p:nvSpPr>
          <p:cNvPr id="35" name="TextBox 34"/>
          <p:cNvSpPr txBox="1"/>
          <p:nvPr/>
        </p:nvSpPr>
        <p:spPr>
          <a:xfrm>
            <a:off x="7882127" y="5705855"/>
            <a:ext cx="3657600" cy="347472"/>
          </a:xfrm>
          <a:prstGeom prst="rect">
            <a:avLst/>
          </a:prstGeom>
          <a:noFill/>
        </p:spPr>
        <p:txBody>
          <a:bodyPr wrap="square" anchor="t"/>
          <a:lstStyle/>
          <a:p>
            <a:pPr algn="l">
              <a:spcBef>
                <a:spcPts val="0"/>
              </a:spcBef>
              <a:spcAft>
                <a:spcPts val="0"/>
              </a:spcAft>
            </a:pPr>
            <a:r>
              <a:rPr sz="1300" b="0" i="0">
                <a:solidFill>
                  <a:srgbClr val="C5D0DC"/>
                </a:solidFill>
                <a:latin typeface="Cambria"/>
                <a:ea typeface="Cambria"/>
                <a:cs typeface="Cambria"/>
              </a:rPr>
              <a:t>On demand. Proxy + fallback. Never blocking.</a:t>
            </a:r>
          </a:p>
        </p:txBody>
      </p:sp>
      <p:sp>
        <p:nvSpPr>
          <p:cNvPr id="36" name="TextBox 35"/>
          <p:cNvSpPr txBox="1"/>
          <p:nvPr/>
        </p:nvSpPr>
        <p:spPr>
          <a:xfrm>
            <a:off x="502920" y="6565392"/>
            <a:ext cx="9601200" cy="237744"/>
          </a:xfrm>
          <a:prstGeom prst="rect">
            <a:avLst/>
          </a:prstGeom>
          <a:noFill/>
        </p:spPr>
        <p:txBody>
          <a:bodyPr wrap="square" anchor="t"/>
          <a:lstStyle/>
          <a:p>
            <a:pPr algn="l">
              <a:spcBef>
                <a:spcPts val="0"/>
              </a:spcBef>
              <a:spcAft>
                <a:spcPts val="0"/>
              </a:spcAft>
            </a:pPr>
            <a:r>
              <a:rPr sz="1100" b="0" i="0">
                <a:solidFill>
                  <a:srgbClr val="5C6B7A"/>
                </a:solidFill>
                <a:latin typeface="Cambria"/>
                <a:ea typeface="Cambria"/>
                <a:cs typeface="Cambria"/>
              </a:rPr>
              <a:t>BrainChild 2.0  ·  Team Alpha  ·  University of Frontier Technology, Bangladesh</a:t>
            </a:r>
          </a:p>
        </p:txBody>
      </p:sp>
      <p:sp>
        <p:nvSpPr>
          <p:cNvPr id="37" name="TextBox 36"/>
          <p:cNvSpPr txBox="1"/>
          <p:nvPr/>
        </p:nvSpPr>
        <p:spPr>
          <a:xfrm>
            <a:off x="10469880" y="6565392"/>
            <a:ext cx="1188720" cy="237744"/>
          </a:xfrm>
          <a:prstGeom prst="rect">
            <a:avLst/>
          </a:prstGeom>
          <a:noFill/>
        </p:spPr>
        <p:txBody>
          <a:bodyPr wrap="square" anchor="t"/>
          <a:lstStyle/>
          <a:p>
            <a:pPr algn="r">
              <a:spcBef>
                <a:spcPts val="0"/>
              </a:spcBef>
              <a:spcAft>
                <a:spcPts val="0"/>
              </a:spcAft>
            </a:pPr>
            <a:r>
              <a:rPr sz="1100" b="0" i="0">
                <a:solidFill>
                  <a:srgbClr val="5C6B7A"/>
                </a:solidFill>
                <a:latin typeface="Cambria"/>
                <a:ea typeface="Cambria"/>
                <a:cs typeface="Cambria"/>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56032"/>
          </a:xfrm>
          <a:prstGeom prst="rect">
            <a:avLst/>
          </a:prstGeom>
          <a:noFill/>
        </p:spPr>
        <p:txBody>
          <a:bodyPr wrap="square" anchor="t"/>
          <a:lstStyle/>
          <a:p>
            <a:pPr algn="l">
              <a:spcBef>
                <a:spcPts val="0"/>
              </a:spcBef>
              <a:spcAft>
                <a:spcPts val="0"/>
              </a:spcAft>
            </a:pPr>
            <a:r>
              <a:rPr sz="1200" b="1" i="0">
                <a:solidFill>
                  <a:srgbClr val="5C6B7A"/>
                </a:solidFill>
                <a:latin typeface="Cambria"/>
                <a:ea typeface="Cambria"/>
                <a:cs typeface="Cambria"/>
              </a:rPr>
              <a:t>WHAT IT SOLVES  ·  STEAM, NOT STEM-ONLY</a:t>
            </a:r>
          </a:p>
        </p:txBody>
      </p:sp>
      <p:sp>
        <p:nvSpPr>
          <p:cNvPr id="4" name="TextBox 3"/>
          <p:cNvSpPr txBox="1"/>
          <p:nvPr/>
        </p:nvSpPr>
        <p:spPr>
          <a:xfrm>
            <a:off x="502920" y="502920"/>
            <a:ext cx="11155680" cy="868680"/>
          </a:xfrm>
          <a:prstGeom prst="rect">
            <a:avLst/>
          </a:prstGeom>
          <a:noFill/>
        </p:spPr>
        <p:txBody>
          <a:bodyPr wrap="square" anchor="t"/>
          <a:lstStyle/>
          <a:p>
            <a:pPr algn="l">
              <a:spcBef>
                <a:spcPts val="0"/>
              </a:spcBef>
              <a:spcAft>
                <a:spcPts val="0"/>
              </a:spcAft>
            </a:pPr>
            <a:r>
              <a:rPr sz="2800" b="1" i="0">
                <a:solidFill>
                  <a:srgbClr val="1E3A5F"/>
                </a:solidFill>
                <a:latin typeface="Georgia"/>
                <a:ea typeface="Georgia"/>
                <a:cs typeface="Georgia"/>
              </a:rPr>
              <a:t>It solves STEAM enactment in a browser, not another STEM quiz.</a:t>
            </a:r>
          </a:p>
        </p:txBody>
      </p:sp>
      <p:sp>
        <p:nvSpPr>
          <p:cNvPr id="5" name="Rectangle 4"/>
          <p:cNvSpPr/>
          <p:nvPr/>
        </p:nvSpPr>
        <p:spPr>
          <a:xfrm>
            <a:off x="502920" y="1481328"/>
            <a:ext cx="713232" cy="74980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27632"/>
            <a:ext cx="713232" cy="475488"/>
          </a:xfrm>
          <a:prstGeom prst="rect">
            <a:avLst/>
          </a:prstGeom>
          <a:noFill/>
        </p:spPr>
        <p:txBody>
          <a:bodyPr wrap="square" anchor="t"/>
          <a:lstStyle/>
          <a:p>
            <a:pPr algn="ctr">
              <a:spcBef>
                <a:spcPts val="0"/>
              </a:spcBef>
              <a:spcAft>
                <a:spcPts val="0"/>
              </a:spcAft>
            </a:pPr>
            <a:r>
              <a:rPr sz="2600" b="1" i="0">
                <a:solidFill>
                  <a:srgbClr val="F4EBD0"/>
                </a:solidFill>
                <a:latin typeface="Georgia"/>
                <a:ea typeface="Georgia"/>
                <a:cs typeface="Georgia"/>
              </a:rPr>
              <a:t>S</a:t>
            </a:r>
          </a:p>
        </p:txBody>
      </p:sp>
      <p:sp>
        <p:nvSpPr>
          <p:cNvPr id="7" name="TextBox 6"/>
          <p:cNvSpPr txBox="1"/>
          <p:nvPr/>
        </p:nvSpPr>
        <p:spPr>
          <a:xfrm>
            <a:off x="1389888" y="1517904"/>
            <a:ext cx="2194560" cy="292608"/>
          </a:xfrm>
          <a:prstGeom prst="rect">
            <a:avLst/>
          </a:prstGeom>
          <a:noFill/>
        </p:spPr>
        <p:txBody>
          <a:bodyPr wrap="square" anchor="t"/>
          <a:lstStyle/>
          <a:p>
            <a:pPr algn="l">
              <a:spcBef>
                <a:spcPts val="0"/>
              </a:spcBef>
              <a:spcAft>
                <a:spcPts val="0"/>
              </a:spcAft>
            </a:pPr>
            <a:r>
              <a:rPr sz="1800" b="1" i="0">
                <a:solidFill>
                  <a:srgbClr val="1E3A5F"/>
                </a:solidFill>
                <a:latin typeface="Georgia"/>
                <a:ea typeface="Georgia"/>
                <a:cs typeface="Georgia"/>
              </a:rPr>
              <a:t>Science</a:t>
            </a:r>
          </a:p>
        </p:txBody>
      </p:sp>
      <p:sp>
        <p:nvSpPr>
          <p:cNvPr id="8" name="TextBox 7"/>
          <p:cNvSpPr txBox="1"/>
          <p:nvPr/>
        </p:nvSpPr>
        <p:spPr>
          <a:xfrm>
            <a:off x="3611880" y="1591056"/>
            <a:ext cx="8046720" cy="566928"/>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Chem, bio, astronomy, geology, anatomy, genetics: act the model, then name it.</a:t>
            </a:r>
          </a:p>
        </p:txBody>
      </p:sp>
      <p:sp>
        <p:nvSpPr>
          <p:cNvPr id="9" name="Rectangle 8"/>
          <p:cNvSpPr/>
          <p:nvPr/>
        </p:nvSpPr>
        <p:spPr>
          <a:xfrm>
            <a:off x="502920" y="2322576"/>
            <a:ext cx="713232" cy="74980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468880"/>
            <a:ext cx="713232" cy="475488"/>
          </a:xfrm>
          <a:prstGeom prst="rect">
            <a:avLst/>
          </a:prstGeom>
          <a:noFill/>
        </p:spPr>
        <p:txBody>
          <a:bodyPr wrap="square" anchor="t"/>
          <a:lstStyle/>
          <a:p>
            <a:pPr algn="ctr">
              <a:spcBef>
                <a:spcPts val="0"/>
              </a:spcBef>
              <a:spcAft>
                <a:spcPts val="0"/>
              </a:spcAft>
            </a:pPr>
            <a:r>
              <a:rPr sz="2600" b="1" i="0">
                <a:solidFill>
                  <a:srgbClr val="F4EBD0"/>
                </a:solidFill>
                <a:latin typeface="Georgia"/>
                <a:ea typeface="Georgia"/>
                <a:cs typeface="Georgia"/>
              </a:rPr>
              <a:t>T</a:t>
            </a:r>
          </a:p>
        </p:txBody>
      </p:sp>
      <p:sp>
        <p:nvSpPr>
          <p:cNvPr id="11" name="TextBox 10"/>
          <p:cNvSpPr txBox="1"/>
          <p:nvPr/>
        </p:nvSpPr>
        <p:spPr>
          <a:xfrm>
            <a:off x="1389888" y="2359152"/>
            <a:ext cx="2194560" cy="292608"/>
          </a:xfrm>
          <a:prstGeom prst="rect">
            <a:avLst/>
          </a:prstGeom>
          <a:noFill/>
        </p:spPr>
        <p:txBody>
          <a:bodyPr wrap="square" anchor="t"/>
          <a:lstStyle/>
          <a:p>
            <a:pPr algn="l">
              <a:spcBef>
                <a:spcPts val="0"/>
              </a:spcBef>
              <a:spcAft>
                <a:spcPts val="0"/>
              </a:spcAft>
            </a:pPr>
            <a:r>
              <a:rPr sz="1800" b="1" i="0">
                <a:solidFill>
                  <a:srgbClr val="1E3A5F"/>
                </a:solidFill>
                <a:latin typeface="Georgia"/>
                <a:ea typeface="Georgia"/>
                <a:cs typeface="Georgia"/>
              </a:rPr>
              <a:t>Technology</a:t>
            </a:r>
          </a:p>
        </p:txBody>
      </p:sp>
      <p:sp>
        <p:nvSpPr>
          <p:cNvPr id="12" name="TextBox 11"/>
          <p:cNvSpPr txBox="1"/>
          <p:nvPr/>
        </p:nvSpPr>
        <p:spPr>
          <a:xfrm>
            <a:off x="3611880" y="2432304"/>
            <a:ext cx="8046720" cy="566928"/>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ICT, web, SQL, cyber, AI, ML: one hub, not eight separate apps.</a:t>
            </a:r>
          </a:p>
        </p:txBody>
      </p:sp>
      <p:sp>
        <p:nvSpPr>
          <p:cNvPr id="13" name="Rectangle 12"/>
          <p:cNvSpPr/>
          <p:nvPr/>
        </p:nvSpPr>
        <p:spPr>
          <a:xfrm>
            <a:off x="502920" y="3163824"/>
            <a:ext cx="713232" cy="74980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310128"/>
            <a:ext cx="713232" cy="475488"/>
          </a:xfrm>
          <a:prstGeom prst="rect">
            <a:avLst/>
          </a:prstGeom>
          <a:noFill/>
        </p:spPr>
        <p:txBody>
          <a:bodyPr wrap="square" anchor="t"/>
          <a:lstStyle/>
          <a:p>
            <a:pPr algn="ctr">
              <a:spcBef>
                <a:spcPts val="0"/>
              </a:spcBef>
              <a:spcAft>
                <a:spcPts val="0"/>
              </a:spcAft>
            </a:pPr>
            <a:r>
              <a:rPr sz="2600" b="1" i="0">
                <a:solidFill>
                  <a:srgbClr val="F4EBD0"/>
                </a:solidFill>
                <a:latin typeface="Georgia"/>
                <a:ea typeface="Georgia"/>
                <a:cs typeface="Georgia"/>
              </a:rPr>
              <a:t>E</a:t>
            </a:r>
          </a:p>
        </p:txBody>
      </p:sp>
      <p:sp>
        <p:nvSpPr>
          <p:cNvPr id="15" name="TextBox 14"/>
          <p:cNvSpPr txBox="1"/>
          <p:nvPr/>
        </p:nvSpPr>
        <p:spPr>
          <a:xfrm>
            <a:off x="1389888" y="3200400"/>
            <a:ext cx="2194560" cy="292608"/>
          </a:xfrm>
          <a:prstGeom prst="rect">
            <a:avLst/>
          </a:prstGeom>
          <a:noFill/>
        </p:spPr>
        <p:txBody>
          <a:bodyPr wrap="square" anchor="t"/>
          <a:lstStyle/>
          <a:p>
            <a:pPr algn="l">
              <a:spcBef>
                <a:spcPts val="0"/>
              </a:spcBef>
              <a:spcAft>
                <a:spcPts val="0"/>
              </a:spcAft>
            </a:pPr>
            <a:r>
              <a:rPr sz="1800" b="1" i="0">
                <a:solidFill>
                  <a:srgbClr val="1E3A5F"/>
                </a:solidFill>
                <a:latin typeface="Georgia"/>
                <a:ea typeface="Georgia"/>
                <a:cs typeface="Georgia"/>
              </a:rPr>
              <a:t>Engineering</a:t>
            </a:r>
          </a:p>
        </p:txBody>
      </p:sp>
      <p:sp>
        <p:nvSpPr>
          <p:cNvPr id="16" name="TextBox 15"/>
          <p:cNvSpPr txBox="1"/>
          <p:nvPr/>
        </p:nvSpPr>
        <p:spPr>
          <a:xfrm>
            <a:off x="3611880" y="3273552"/>
            <a:ext cx="8046720" cy="566928"/>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Electrical, mechanical, civil, robotics, green tech: loops, levers, loads.</a:t>
            </a:r>
          </a:p>
        </p:txBody>
      </p:sp>
      <p:sp>
        <p:nvSpPr>
          <p:cNvPr id="17" name="Rectangle 16"/>
          <p:cNvSpPr/>
          <p:nvPr/>
        </p:nvSpPr>
        <p:spPr>
          <a:xfrm>
            <a:off x="502920" y="4005072"/>
            <a:ext cx="713232" cy="74980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151376"/>
            <a:ext cx="713232" cy="475488"/>
          </a:xfrm>
          <a:prstGeom prst="rect">
            <a:avLst/>
          </a:prstGeom>
          <a:noFill/>
        </p:spPr>
        <p:txBody>
          <a:bodyPr wrap="square" anchor="t"/>
          <a:lstStyle/>
          <a:p>
            <a:pPr algn="ctr">
              <a:spcBef>
                <a:spcPts val="0"/>
              </a:spcBef>
              <a:spcAft>
                <a:spcPts val="0"/>
              </a:spcAft>
            </a:pPr>
            <a:r>
              <a:rPr sz="2600" b="1" i="0">
                <a:solidFill>
                  <a:srgbClr val="1E3A5F"/>
                </a:solidFill>
                <a:latin typeface="Georgia"/>
                <a:ea typeface="Georgia"/>
                <a:cs typeface="Georgia"/>
              </a:rPr>
              <a:t>A</a:t>
            </a:r>
          </a:p>
        </p:txBody>
      </p:sp>
      <p:sp>
        <p:nvSpPr>
          <p:cNvPr id="19" name="TextBox 18"/>
          <p:cNvSpPr txBox="1"/>
          <p:nvPr/>
        </p:nvSpPr>
        <p:spPr>
          <a:xfrm>
            <a:off x="1389888" y="4041648"/>
            <a:ext cx="2194560" cy="292608"/>
          </a:xfrm>
          <a:prstGeom prst="rect">
            <a:avLst/>
          </a:prstGeom>
          <a:noFill/>
        </p:spPr>
        <p:txBody>
          <a:bodyPr wrap="square" anchor="t"/>
          <a:lstStyle/>
          <a:p>
            <a:pPr algn="l">
              <a:spcBef>
                <a:spcPts val="0"/>
              </a:spcBef>
              <a:spcAft>
                <a:spcPts val="0"/>
              </a:spcAft>
            </a:pPr>
            <a:r>
              <a:rPr sz="1800" b="1" i="0">
                <a:solidFill>
                  <a:srgbClr val="1E3A5F"/>
                </a:solidFill>
                <a:latin typeface="Georgia"/>
                <a:ea typeface="Georgia"/>
                <a:cs typeface="Georgia"/>
              </a:rPr>
              <a:t>Arts</a:t>
            </a:r>
          </a:p>
        </p:txBody>
      </p:sp>
      <p:sp>
        <p:nvSpPr>
          <p:cNvPr id="20" name="TextBox 19"/>
          <p:cNvSpPr txBox="1"/>
          <p:nvPr/>
        </p:nvSpPr>
        <p:spPr>
          <a:xfrm>
            <a:off x="3611880" y="4114800"/>
            <a:ext cx="8046720" cy="566928"/>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Bilingual craft, digital books, myth stories, Specimen Lab as a visual theater.</a:t>
            </a:r>
          </a:p>
        </p:txBody>
      </p:sp>
      <p:sp>
        <p:nvSpPr>
          <p:cNvPr id="21" name="Rectangle 20"/>
          <p:cNvSpPr/>
          <p:nvPr/>
        </p:nvSpPr>
        <p:spPr>
          <a:xfrm>
            <a:off x="502920" y="4846320"/>
            <a:ext cx="713232" cy="74980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992624"/>
            <a:ext cx="713232" cy="475488"/>
          </a:xfrm>
          <a:prstGeom prst="rect">
            <a:avLst/>
          </a:prstGeom>
          <a:noFill/>
        </p:spPr>
        <p:txBody>
          <a:bodyPr wrap="square" anchor="t"/>
          <a:lstStyle/>
          <a:p>
            <a:pPr algn="ctr">
              <a:spcBef>
                <a:spcPts val="0"/>
              </a:spcBef>
              <a:spcAft>
                <a:spcPts val="0"/>
              </a:spcAft>
            </a:pPr>
            <a:r>
              <a:rPr sz="2600" b="1" i="0">
                <a:solidFill>
                  <a:srgbClr val="F4EBD0"/>
                </a:solidFill>
                <a:latin typeface="Georgia"/>
                <a:ea typeface="Georgia"/>
                <a:cs typeface="Georgia"/>
              </a:rPr>
              <a:t>M</a:t>
            </a:r>
          </a:p>
        </p:txBody>
      </p:sp>
      <p:sp>
        <p:nvSpPr>
          <p:cNvPr id="23" name="TextBox 22"/>
          <p:cNvSpPr txBox="1"/>
          <p:nvPr/>
        </p:nvSpPr>
        <p:spPr>
          <a:xfrm>
            <a:off x="1389888" y="4882896"/>
            <a:ext cx="2194560" cy="292608"/>
          </a:xfrm>
          <a:prstGeom prst="rect">
            <a:avLst/>
          </a:prstGeom>
          <a:noFill/>
        </p:spPr>
        <p:txBody>
          <a:bodyPr wrap="square" anchor="t"/>
          <a:lstStyle/>
          <a:p>
            <a:pPr algn="l">
              <a:spcBef>
                <a:spcPts val="0"/>
              </a:spcBef>
              <a:spcAft>
                <a:spcPts val="0"/>
              </a:spcAft>
            </a:pPr>
            <a:r>
              <a:rPr sz="1800" b="1" i="0">
                <a:solidFill>
                  <a:srgbClr val="1E3A5F"/>
                </a:solidFill>
                <a:latin typeface="Georgia"/>
                <a:ea typeface="Georgia"/>
                <a:cs typeface="Georgia"/>
              </a:rPr>
              <a:t>Mathematics</a:t>
            </a:r>
          </a:p>
        </p:txBody>
      </p:sp>
      <p:sp>
        <p:nvSpPr>
          <p:cNvPr id="24" name="TextBox 23"/>
          <p:cNvSpPr txBox="1"/>
          <p:nvPr/>
        </p:nvSpPr>
        <p:spPr>
          <a:xfrm>
            <a:off x="3611880" y="4956048"/>
            <a:ext cx="8046720" cy="566928"/>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Number, stats, geometry, calculus, discrete: drill to 80% before mastery.</a:t>
            </a:r>
          </a:p>
        </p:txBody>
      </p:sp>
      <p:sp>
        <p:nvSpPr>
          <p:cNvPr id="25" name="TextBox 24"/>
          <p:cNvSpPr txBox="1"/>
          <p:nvPr/>
        </p:nvSpPr>
        <p:spPr>
          <a:xfrm>
            <a:off x="502920" y="5806440"/>
            <a:ext cx="11155680" cy="502920"/>
          </a:xfrm>
          <a:prstGeom prst="rect">
            <a:avLst/>
          </a:prstGeom>
          <a:noFill/>
        </p:spPr>
        <p:txBody>
          <a:bodyPr wrap="square" anchor="t"/>
          <a:lstStyle/>
          <a:p>
            <a:pPr algn="l">
              <a:spcBef>
                <a:spcPts val="0"/>
              </a:spcBef>
              <a:spcAft>
                <a:spcPts val="0"/>
              </a:spcAft>
            </a:pPr>
            <a:r>
              <a:rPr sz="1500" b="0" i="1">
                <a:solidFill>
                  <a:srgbClr val="5C6B7A"/>
                </a:solidFill>
                <a:latin typeface="Cambria"/>
                <a:ea typeface="Cambria"/>
                <a:cs typeface="Cambria"/>
              </a:rPr>
              <a:t>Also solved: offline-first access, 80% fluency vs time-watched, 2D missions plus a 3D lab instead of 3D everywhere.</a:t>
            </a:r>
          </a:p>
        </p:txBody>
      </p:sp>
      <p:sp>
        <p:nvSpPr>
          <p:cNvPr id="26" name="TextBox 25"/>
          <p:cNvSpPr txBox="1"/>
          <p:nvPr/>
        </p:nvSpPr>
        <p:spPr>
          <a:xfrm>
            <a:off x="502920" y="6565392"/>
            <a:ext cx="9601200" cy="237744"/>
          </a:xfrm>
          <a:prstGeom prst="rect">
            <a:avLst/>
          </a:prstGeom>
          <a:noFill/>
        </p:spPr>
        <p:txBody>
          <a:bodyPr wrap="square" anchor="t"/>
          <a:lstStyle/>
          <a:p>
            <a:pPr algn="l">
              <a:spcBef>
                <a:spcPts val="0"/>
              </a:spcBef>
              <a:spcAft>
                <a:spcPts val="0"/>
              </a:spcAft>
            </a:pPr>
            <a:r>
              <a:rPr sz="1100" b="0" i="0">
                <a:solidFill>
                  <a:srgbClr val="5C6B7A"/>
                </a:solidFill>
                <a:latin typeface="Cambria"/>
                <a:ea typeface="Cambria"/>
                <a:cs typeface="Cambria"/>
              </a:rPr>
              <a:t>BrainChild 2.0  ·  Team Alpha  ·  University of Frontier Technology, Bangladesh</a:t>
            </a:r>
          </a:p>
        </p:txBody>
      </p:sp>
      <p:sp>
        <p:nvSpPr>
          <p:cNvPr id="27" name="TextBox 26"/>
          <p:cNvSpPr txBox="1"/>
          <p:nvPr/>
        </p:nvSpPr>
        <p:spPr>
          <a:xfrm>
            <a:off x="10469880" y="6565392"/>
            <a:ext cx="1188720" cy="237744"/>
          </a:xfrm>
          <a:prstGeom prst="rect">
            <a:avLst/>
          </a:prstGeom>
          <a:noFill/>
        </p:spPr>
        <p:txBody>
          <a:bodyPr wrap="square" anchor="t"/>
          <a:lstStyle/>
          <a:p>
            <a:pPr algn="r">
              <a:spcBef>
                <a:spcPts val="0"/>
              </a:spcBef>
              <a:spcAft>
                <a:spcPts val="0"/>
              </a:spcAft>
            </a:pPr>
            <a:r>
              <a:rPr sz="1100" b="0" i="0">
                <a:solidFill>
                  <a:srgbClr val="5C6B7A"/>
                </a:solidFill>
                <a:latin typeface="Cambria"/>
                <a:ea typeface="Cambria"/>
                <a:cs typeface="Cambria"/>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56032"/>
          </a:xfrm>
          <a:prstGeom prst="rect">
            <a:avLst/>
          </a:prstGeom>
          <a:noFill/>
        </p:spPr>
        <p:txBody>
          <a:bodyPr wrap="square" anchor="t"/>
          <a:lstStyle/>
          <a:p>
            <a:pPr algn="l">
              <a:spcBef>
                <a:spcPts val="0"/>
              </a:spcBef>
              <a:spcAft>
                <a:spcPts val="0"/>
              </a:spcAft>
            </a:pPr>
            <a:r>
              <a:rPr sz="1200" b="1" i="0">
                <a:solidFill>
                  <a:srgbClr val="5C6B7A"/>
                </a:solidFill>
                <a:latin typeface="Cambria"/>
                <a:ea typeface="Cambria"/>
                <a:cs typeface="Cambria"/>
              </a:rPr>
              <a:t>THEORIES IN THE RUNNING PRODUCT</a:t>
            </a:r>
          </a:p>
        </p:txBody>
      </p:sp>
      <p:sp>
        <p:nvSpPr>
          <p:cNvPr id="4" name="TextBox 3"/>
          <p:cNvSpPr txBox="1"/>
          <p:nvPr/>
        </p:nvSpPr>
        <p:spPr>
          <a:xfrm>
            <a:off x="502920" y="475488"/>
            <a:ext cx="11155680" cy="640080"/>
          </a:xfrm>
          <a:prstGeom prst="rect">
            <a:avLst/>
          </a:prstGeom>
          <a:noFill/>
        </p:spPr>
        <p:txBody>
          <a:bodyPr wrap="square" anchor="t"/>
          <a:lstStyle/>
          <a:p>
            <a:pPr algn="l">
              <a:spcBef>
                <a:spcPts val="0"/>
              </a:spcBef>
              <a:spcAft>
                <a:spcPts val="0"/>
              </a:spcAft>
            </a:pPr>
            <a:r>
              <a:rPr sz="2800" b="1" i="0">
                <a:solidFill>
                  <a:srgbClr val="1E3A5F"/>
                </a:solidFill>
                <a:latin typeface="Georgia"/>
                <a:ea typeface="Georgia"/>
                <a:cs typeface="Georgia"/>
              </a:rPr>
              <a:t>Each theory maps to a part that actually runs.</a:t>
            </a:r>
          </a:p>
        </p:txBody>
      </p:sp>
      <p:sp>
        <p:nvSpPr>
          <p:cNvPr id="5" name="Rectangle 4"/>
          <p:cNvSpPr/>
          <p:nvPr/>
        </p:nvSpPr>
        <p:spPr>
          <a:xfrm>
            <a:off x="411480" y="1170432"/>
            <a:ext cx="11338560" cy="347472"/>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4632" y="1207008"/>
            <a:ext cx="2304288" cy="274320"/>
          </a:xfrm>
          <a:prstGeom prst="rect">
            <a:avLst/>
          </a:prstGeom>
          <a:noFill/>
        </p:spPr>
        <p:txBody>
          <a:bodyPr wrap="square" anchor="t"/>
          <a:lstStyle/>
          <a:p>
            <a:pPr algn="l">
              <a:spcBef>
                <a:spcPts val="0"/>
              </a:spcBef>
              <a:spcAft>
                <a:spcPts val="0"/>
              </a:spcAft>
            </a:pPr>
            <a:r>
              <a:rPr sz="1200" b="1" i="0">
                <a:solidFill>
                  <a:srgbClr val="FFFFFF"/>
                </a:solidFill>
                <a:latin typeface="Cambria"/>
                <a:ea typeface="Cambria"/>
                <a:cs typeface="Cambria"/>
              </a:rPr>
              <a:t>Theory</a:t>
            </a:r>
          </a:p>
        </p:txBody>
      </p:sp>
      <p:sp>
        <p:nvSpPr>
          <p:cNvPr id="7" name="TextBox 6"/>
          <p:cNvSpPr txBox="1"/>
          <p:nvPr/>
        </p:nvSpPr>
        <p:spPr>
          <a:xfrm>
            <a:off x="2953512" y="1207008"/>
            <a:ext cx="2907791" cy="274320"/>
          </a:xfrm>
          <a:prstGeom prst="rect">
            <a:avLst/>
          </a:prstGeom>
          <a:noFill/>
        </p:spPr>
        <p:txBody>
          <a:bodyPr wrap="square" anchor="t"/>
          <a:lstStyle/>
          <a:p>
            <a:pPr algn="l">
              <a:spcBef>
                <a:spcPts val="0"/>
              </a:spcBef>
              <a:spcAft>
                <a:spcPts val="0"/>
              </a:spcAft>
            </a:pPr>
            <a:r>
              <a:rPr sz="1200" b="1" i="0">
                <a:solidFill>
                  <a:srgbClr val="FFFFFF"/>
                </a:solidFill>
                <a:latin typeface="Cambria"/>
                <a:ea typeface="Cambria"/>
                <a:cs typeface="Cambria"/>
              </a:rPr>
              <a:t>Why it is here</a:t>
            </a:r>
          </a:p>
        </p:txBody>
      </p:sp>
      <p:sp>
        <p:nvSpPr>
          <p:cNvPr id="8" name="TextBox 7"/>
          <p:cNvSpPr txBox="1"/>
          <p:nvPr/>
        </p:nvSpPr>
        <p:spPr>
          <a:xfrm>
            <a:off x="6062472" y="1207008"/>
            <a:ext cx="2359152" cy="274320"/>
          </a:xfrm>
          <a:prstGeom prst="rect">
            <a:avLst/>
          </a:prstGeom>
          <a:noFill/>
        </p:spPr>
        <p:txBody>
          <a:bodyPr wrap="square" anchor="t"/>
          <a:lstStyle/>
          <a:p>
            <a:pPr algn="l">
              <a:spcBef>
                <a:spcPts val="0"/>
              </a:spcBef>
              <a:spcAft>
                <a:spcPts val="0"/>
              </a:spcAft>
            </a:pPr>
            <a:r>
              <a:rPr sz="1200" b="1" i="0">
                <a:solidFill>
                  <a:srgbClr val="FFFFFF"/>
                </a:solidFill>
                <a:latin typeface="Cambria"/>
                <a:ea typeface="Cambria"/>
                <a:cs typeface="Cambria"/>
              </a:rPr>
              <a:t>Component</a:t>
            </a:r>
          </a:p>
        </p:txBody>
      </p:sp>
      <p:sp>
        <p:nvSpPr>
          <p:cNvPr id="9" name="TextBox 8"/>
          <p:cNvSpPr txBox="1"/>
          <p:nvPr/>
        </p:nvSpPr>
        <p:spPr>
          <a:xfrm>
            <a:off x="8622792" y="1207008"/>
            <a:ext cx="3108960" cy="274320"/>
          </a:xfrm>
          <a:prstGeom prst="rect">
            <a:avLst/>
          </a:prstGeom>
          <a:noFill/>
        </p:spPr>
        <p:txBody>
          <a:bodyPr wrap="square" anchor="t"/>
          <a:lstStyle/>
          <a:p>
            <a:pPr algn="l">
              <a:spcBef>
                <a:spcPts val="0"/>
              </a:spcBef>
              <a:spcAft>
                <a:spcPts val="0"/>
              </a:spcAft>
            </a:pPr>
            <a:r>
              <a:rPr sz="1200" b="1" i="0">
                <a:solidFill>
                  <a:srgbClr val="FFFFFF"/>
                </a:solidFill>
                <a:latin typeface="Cambria"/>
                <a:ea typeface="Cambria"/>
                <a:cs typeface="Cambria"/>
              </a:rPr>
              <a:t>What actually runs</a:t>
            </a:r>
          </a:p>
        </p:txBody>
      </p:sp>
      <p:sp>
        <p:nvSpPr>
          <p:cNvPr id="10" name="Rectangle 9"/>
          <p:cNvSpPr/>
          <p:nvPr/>
        </p:nvSpPr>
        <p:spPr>
          <a:xfrm>
            <a:off x="411480" y="1536192"/>
            <a:ext cx="1133856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 y="1581912"/>
            <a:ext cx="2286000" cy="530352"/>
          </a:xfrm>
          <a:prstGeom prst="rect">
            <a:avLst/>
          </a:prstGeom>
          <a:noFill/>
        </p:spPr>
        <p:txBody>
          <a:bodyPr wrap="square"/>
          <a:lstStyle/>
          <a:p>
            <a:pPr algn="l">
              <a:spcBef>
                <a:spcPts val="0"/>
              </a:spcBef>
              <a:spcAft>
                <a:spcPts val="100"/>
              </a:spcAft>
            </a:pPr>
            <a:r>
              <a:rPr sz="1300" b="1" i="0">
                <a:solidFill>
                  <a:srgbClr val="1B2838"/>
                </a:solidFill>
                <a:latin typeface="Cambria"/>
                <a:ea typeface="Cambria"/>
                <a:cs typeface="Cambria"/>
              </a:rPr>
              <a:t>Bruner 1966</a:t>
            </a:r>
          </a:p>
          <a:p>
            <a:pPr algn="l">
              <a:spcBef>
                <a:spcPts val="0"/>
              </a:spcBef>
              <a:spcAft>
                <a:spcPts val="100"/>
              </a:spcAft>
            </a:pPr>
            <a:r>
              <a:rPr sz="1300" b="0" i="0">
                <a:solidFill>
                  <a:srgbClr val="1B2838"/>
                </a:solidFill>
                <a:latin typeface="Cambria"/>
                <a:ea typeface="Cambria"/>
                <a:cs typeface="Cambria"/>
              </a:rPr>
              <a:t>spiral + 3 modes</a:t>
            </a:r>
          </a:p>
        </p:txBody>
      </p:sp>
      <p:sp>
        <p:nvSpPr>
          <p:cNvPr id="12" name="TextBox 11"/>
          <p:cNvSpPr txBox="1"/>
          <p:nvPr/>
        </p:nvSpPr>
        <p:spPr>
          <a:xfrm>
            <a:off x="2953512" y="1581912"/>
            <a:ext cx="2889503"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Move from doing to naming without skipping the picture.</a:t>
            </a:r>
          </a:p>
        </p:txBody>
      </p:sp>
      <p:sp>
        <p:nvSpPr>
          <p:cNvPr id="13" name="TextBox 12"/>
          <p:cNvSpPr txBox="1"/>
          <p:nvPr/>
        </p:nvSpPr>
        <p:spPr>
          <a:xfrm>
            <a:off x="6062472" y="1581912"/>
            <a:ext cx="2340864"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Mission intro +</a:t>
            </a:r>
          </a:p>
          <a:p>
            <a:pPr algn="l">
              <a:spcBef>
                <a:spcPts val="0"/>
              </a:spcBef>
              <a:spcAft>
                <a:spcPts val="100"/>
              </a:spcAft>
            </a:pPr>
            <a:r>
              <a:rPr sz="1300" b="0" i="0">
                <a:solidFill>
                  <a:srgbClr val="1B2838"/>
                </a:solidFill>
                <a:latin typeface="Cambria"/>
                <a:ea typeface="Cambria"/>
                <a:cs typeface="Cambria"/>
              </a:rPr>
              <a:t>10-step spiral</a:t>
            </a:r>
          </a:p>
        </p:txBody>
      </p:sp>
      <p:sp>
        <p:nvSpPr>
          <p:cNvPr id="14" name="TextBox 13"/>
          <p:cNvSpPr txBox="1"/>
          <p:nvPr/>
        </p:nvSpPr>
        <p:spPr>
          <a:xfrm>
            <a:off x="8622792" y="1581912"/>
            <a:ext cx="3090672"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Enactive labs → iconic chips/3D → symbolic rule + drill</a:t>
            </a:r>
          </a:p>
        </p:txBody>
      </p:sp>
      <p:sp>
        <p:nvSpPr>
          <p:cNvPr id="15" name="Rectangle 14"/>
          <p:cNvSpPr/>
          <p:nvPr/>
        </p:nvSpPr>
        <p:spPr>
          <a:xfrm>
            <a:off x="411480" y="2139696"/>
            <a:ext cx="11338560" cy="60350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4632" y="2185415"/>
            <a:ext cx="2286000" cy="530352"/>
          </a:xfrm>
          <a:prstGeom prst="rect">
            <a:avLst/>
          </a:prstGeom>
          <a:noFill/>
        </p:spPr>
        <p:txBody>
          <a:bodyPr wrap="square"/>
          <a:lstStyle/>
          <a:p>
            <a:pPr algn="l">
              <a:spcBef>
                <a:spcPts val="0"/>
              </a:spcBef>
              <a:spcAft>
                <a:spcPts val="100"/>
              </a:spcAft>
            </a:pPr>
            <a:r>
              <a:rPr sz="1300" b="1" i="0">
                <a:solidFill>
                  <a:srgbClr val="1B2838"/>
                </a:solidFill>
                <a:latin typeface="Cambria"/>
                <a:ea typeface="Cambria"/>
                <a:cs typeface="Cambria"/>
              </a:rPr>
              <a:t>Constructivism +</a:t>
            </a:r>
          </a:p>
          <a:p>
            <a:pPr algn="l">
              <a:spcBef>
                <a:spcPts val="0"/>
              </a:spcBef>
              <a:spcAft>
                <a:spcPts val="100"/>
              </a:spcAft>
            </a:pPr>
            <a:r>
              <a:rPr sz="1300" b="0" i="0">
                <a:solidFill>
                  <a:srgbClr val="1B2838"/>
                </a:solidFill>
                <a:latin typeface="Cambria"/>
                <a:ea typeface="Cambria"/>
                <a:cs typeface="Cambria"/>
              </a:rPr>
              <a:t>POE (White &amp; Gunstone)</a:t>
            </a:r>
          </a:p>
        </p:txBody>
      </p:sp>
      <p:sp>
        <p:nvSpPr>
          <p:cNvPr id="17" name="TextBox 16"/>
          <p:cNvSpPr txBox="1"/>
          <p:nvPr/>
        </p:nvSpPr>
        <p:spPr>
          <a:xfrm>
            <a:off x="2953512" y="2185415"/>
            <a:ext cx="2889503"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Canvas must be the source of truth, not a video.</a:t>
            </a:r>
          </a:p>
        </p:txBody>
      </p:sp>
      <p:sp>
        <p:nvSpPr>
          <p:cNvPr id="18" name="TextBox 17"/>
          <p:cNvSpPr txBox="1"/>
          <p:nvPr/>
        </p:nvSpPr>
        <p:spPr>
          <a:xfrm>
            <a:off x="6062472" y="2185415"/>
            <a:ext cx="2340864"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Interactive 2D stage</a:t>
            </a:r>
          </a:p>
        </p:txBody>
      </p:sp>
      <p:sp>
        <p:nvSpPr>
          <p:cNvPr id="19" name="TextBox 18"/>
          <p:cNvSpPr txBox="1"/>
          <p:nvPr/>
        </p:nvSpPr>
        <p:spPr>
          <a:xfrm>
            <a:off x="8622792" y="2185415"/>
            <a:ext cx="3090672"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Predict, act, observe, explain; drag / tap / myth-bust</a:t>
            </a:r>
          </a:p>
        </p:txBody>
      </p:sp>
      <p:sp>
        <p:nvSpPr>
          <p:cNvPr id="20" name="Rectangle 19"/>
          <p:cNvSpPr/>
          <p:nvPr/>
        </p:nvSpPr>
        <p:spPr>
          <a:xfrm>
            <a:off x="411480" y="2743200"/>
            <a:ext cx="1133856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4632" y="2788920"/>
            <a:ext cx="2286000" cy="530352"/>
          </a:xfrm>
          <a:prstGeom prst="rect">
            <a:avLst/>
          </a:prstGeom>
          <a:noFill/>
        </p:spPr>
        <p:txBody>
          <a:bodyPr wrap="square"/>
          <a:lstStyle/>
          <a:p>
            <a:pPr algn="l">
              <a:spcBef>
                <a:spcPts val="0"/>
              </a:spcBef>
              <a:spcAft>
                <a:spcPts val="100"/>
              </a:spcAft>
            </a:pPr>
            <a:r>
              <a:rPr sz="1300" b="1" i="0">
                <a:solidFill>
                  <a:srgbClr val="1B2838"/>
                </a:solidFill>
                <a:latin typeface="Cambria"/>
                <a:ea typeface="Cambria"/>
                <a:cs typeface="Cambria"/>
              </a:rPr>
              <a:t>Vygotsky ZPD +</a:t>
            </a:r>
          </a:p>
          <a:p>
            <a:pPr algn="l">
              <a:spcBef>
                <a:spcPts val="0"/>
              </a:spcBef>
              <a:spcAft>
                <a:spcPts val="100"/>
              </a:spcAft>
            </a:pPr>
            <a:r>
              <a:rPr sz="1300" b="0" i="0">
                <a:solidFill>
                  <a:srgbClr val="1B2838"/>
                </a:solidFill>
                <a:latin typeface="Cambria"/>
                <a:ea typeface="Cambria"/>
                <a:cs typeface="Cambria"/>
              </a:rPr>
              <a:t>Flow + formative</a:t>
            </a:r>
          </a:p>
        </p:txBody>
      </p:sp>
      <p:sp>
        <p:nvSpPr>
          <p:cNvPr id="22" name="TextBox 21"/>
          <p:cNvSpPr txBox="1"/>
          <p:nvPr/>
        </p:nvSpPr>
        <p:spPr>
          <a:xfrm>
            <a:off x="2953512" y="2788920"/>
            <a:ext cx="2889503"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Help at the edge of skill, not a lecture dump.</a:t>
            </a:r>
          </a:p>
        </p:txBody>
      </p:sp>
      <p:sp>
        <p:nvSpPr>
          <p:cNvPr id="23" name="TextBox 22"/>
          <p:cNvSpPr txBox="1"/>
          <p:nvPr/>
        </p:nvSpPr>
        <p:spPr>
          <a:xfrm>
            <a:off x="6062472" y="2788920"/>
            <a:ext cx="2340864"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Game coach</a:t>
            </a:r>
          </a:p>
        </p:txBody>
      </p:sp>
      <p:sp>
        <p:nvSpPr>
          <p:cNvPr id="24" name="TextBox 23"/>
          <p:cNvSpPr txBox="1"/>
          <p:nvPr/>
        </p:nvSpPr>
        <p:spPr>
          <a:xfrm>
            <a:off x="8622792" y="2788920"/>
            <a:ext cx="3090672"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3-hit streak praise; 2-miss simpler take (streak-based)</a:t>
            </a:r>
          </a:p>
        </p:txBody>
      </p:sp>
      <p:sp>
        <p:nvSpPr>
          <p:cNvPr id="25" name="Rectangle 24"/>
          <p:cNvSpPr/>
          <p:nvPr/>
        </p:nvSpPr>
        <p:spPr>
          <a:xfrm>
            <a:off x="411480" y="3346704"/>
            <a:ext cx="11338560" cy="60350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4632" y="3392424"/>
            <a:ext cx="2286000" cy="530352"/>
          </a:xfrm>
          <a:prstGeom prst="rect">
            <a:avLst/>
          </a:prstGeom>
          <a:noFill/>
        </p:spPr>
        <p:txBody>
          <a:bodyPr wrap="square"/>
          <a:lstStyle/>
          <a:p>
            <a:pPr algn="l">
              <a:spcBef>
                <a:spcPts val="0"/>
              </a:spcBef>
              <a:spcAft>
                <a:spcPts val="100"/>
              </a:spcAft>
            </a:pPr>
            <a:r>
              <a:rPr sz="1300" b="1" i="0">
                <a:solidFill>
                  <a:srgbClr val="1B2838"/>
                </a:solidFill>
                <a:latin typeface="Cambria"/>
                <a:ea typeface="Cambria"/>
                <a:cs typeface="Cambria"/>
              </a:rPr>
              <a:t>Paivio, Mayer,</a:t>
            </a:r>
          </a:p>
          <a:p>
            <a:pPr algn="l">
              <a:spcBef>
                <a:spcPts val="0"/>
              </a:spcBef>
              <a:spcAft>
                <a:spcPts val="100"/>
              </a:spcAft>
            </a:pPr>
            <a:r>
              <a:rPr sz="1300" b="0" i="0">
                <a:solidFill>
                  <a:srgbClr val="1B2838"/>
                </a:solidFill>
                <a:latin typeface="Cambria"/>
                <a:ea typeface="Cambria"/>
                <a:cs typeface="Cambria"/>
              </a:rPr>
              <a:t>Sweller CLT</a:t>
            </a:r>
          </a:p>
        </p:txBody>
      </p:sp>
      <p:sp>
        <p:nvSpPr>
          <p:cNvPr id="27" name="TextBox 26"/>
          <p:cNvSpPr txBox="1"/>
          <p:nvPr/>
        </p:nvSpPr>
        <p:spPr>
          <a:xfrm>
            <a:off x="2953512" y="3392424"/>
            <a:ext cx="2889503"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Words and pictures together; one idea per page.</a:t>
            </a:r>
          </a:p>
        </p:txBody>
      </p:sp>
      <p:sp>
        <p:nvSpPr>
          <p:cNvPr id="28" name="TextBox 27"/>
          <p:cNvSpPr txBox="1"/>
          <p:nvPr/>
        </p:nvSpPr>
        <p:spPr>
          <a:xfrm>
            <a:off x="6062472" y="3392424"/>
            <a:ext cx="2340864"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Digital mission book</a:t>
            </a:r>
          </a:p>
        </p:txBody>
      </p:sp>
      <p:sp>
        <p:nvSpPr>
          <p:cNvPr id="29" name="TextBox 28"/>
          <p:cNvSpPr txBox="1"/>
          <p:nvPr/>
        </p:nvSpPr>
        <p:spPr>
          <a:xfrm>
            <a:off x="8622792" y="3392424"/>
            <a:ext cx="3090672"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8-page spine: hook → model → myth → retrieval</a:t>
            </a:r>
          </a:p>
        </p:txBody>
      </p:sp>
      <p:sp>
        <p:nvSpPr>
          <p:cNvPr id="30" name="Rectangle 29"/>
          <p:cNvSpPr/>
          <p:nvPr/>
        </p:nvSpPr>
        <p:spPr>
          <a:xfrm>
            <a:off x="411480" y="3950208"/>
            <a:ext cx="1133856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 y="3995928"/>
            <a:ext cx="2286000" cy="530352"/>
          </a:xfrm>
          <a:prstGeom prst="rect">
            <a:avLst/>
          </a:prstGeom>
          <a:noFill/>
        </p:spPr>
        <p:txBody>
          <a:bodyPr wrap="square"/>
          <a:lstStyle/>
          <a:p>
            <a:pPr algn="l">
              <a:spcBef>
                <a:spcPts val="0"/>
              </a:spcBef>
              <a:spcAft>
                <a:spcPts val="100"/>
              </a:spcAft>
            </a:pPr>
            <a:r>
              <a:rPr sz="1300" b="1" i="0">
                <a:solidFill>
                  <a:srgbClr val="1B2838"/>
                </a:solidFill>
                <a:latin typeface="Cambria"/>
                <a:ea typeface="Cambria"/>
                <a:cs typeface="Cambria"/>
              </a:rPr>
              <a:t>Posner conceptual</a:t>
            </a:r>
          </a:p>
          <a:p>
            <a:pPr algn="l">
              <a:spcBef>
                <a:spcPts val="0"/>
              </a:spcBef>
              <a:spcAft>
                <a:spcPts val="100"/>
              </a:spcAft>
            </a:pPr>
            <a:r>
              <a:rPr sz="1300" b="0" i="0">
                <a:solidFill>
                  <a:srgbClr val="1B2838"/>
                </a:solidFill>
                <a:latin typeface="Cambria"/>
                <a:ea typeface="Cambria"/>
                <a:cs typeface="Cambria"/>
              </a:rPr>
              <a:t>change</a:t>
            </a:r>
          </a:p>
        </p:txBody>
      </p:sp>
      <p:sp>
        <p:nvSpPr>
          <p:cNvPr id="32" name="TextBox 31"/>
          <p:cNvSpPr txBox="1"/>
          <p:nvPr/>
        </p:nvSpPr>
        <p:spPr>
          <a:xfrm>
            <a:off x="2953512" y="3995928"/>
            <a:ext cx="2889503"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A misconception must be faced, not hidden.</a:t>
            </a:r>
          </a:p>
        </p:txBody>
      </p:sp>
      <p:sp>
        <p:nvSpPr>
          <p:cNvPr id="33" name="TextBox 32"/>
          <p:cNvSpPr txBox="1"/>
          <p:nvPr/>
        </p:nvSpPr>
        <p:spPr>
          <a:xfrm>
            <a:off x="6062472" y="3995928"/>
            <a:ext cx="2340864"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Myth-bust step</a:t>
            </a:r>
          </a:p>
        </p:txBody>
      </p:sp>
      <p:sp>
        <p:nvSpPr>
          <p:cNvPr id="34" name="TextBox 33"/>
          <p:cNvSpPr txBox="1"/>
          <p:nvPr/>
        </p:nvSpPr>
        <p:spPr>
          <a:xfrm>
            <a:off x="8622792" y="3995928"/>
            <a:ext cx="3090672"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Claim vs better model in step 8 of the spiral</a:t>
            </a:r>
          </a:p>
        </p:txBody>
      </p:sp>
      <p:sp>
        <p:nvSpPr>
          <p:cNvPr id="35" name="Rectangle 34"/>
          <p:cNvSpPr/>
          <p:nvPr/>
        </p:nvSpPr>
        <p:spPr>
          <a:xfrm>
            <a:off x="411480" y="4553712"/>
            <a:ext cx="11338560" cy="60350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4632" y="4599432"/>
            <a:ext cx="2286000" cy="530352"/>
          </a:xfrm>
          <a:prstGeom prst="rect">
            <a:avLst/>
          </a:prstGeom>
          <a:noFill/>
        </p:spPr>
        <p:txBody>
          <a:bodyPr wrap="square"/>
          <a:lstStyle/>
          <a:p>
            <a:pPr algn="l">
              <a:spcBef>
                <a:spcPts val="0"/>
              </a:spcBef>
              <a:spcAft>
                <a:spcPts val="100"/>
              </a:spcAft>
            </a:pPr>
            <a:r>
              <a:rPr sz="1300" b="1" i="0">
                <a:solidFill>
                  <a:srgbClr val="1B2838"/>
                </a:solidFill>
                <a:latin typeface="Cambria"/>
                <a:ea typeface="Cambria"/>
                <a:cs typeface="Cambria"/>
              </a:rPr>
              <a:t>Retrieval +</a:t>
            </a:r>
          </a:p>
          <a:p>
            <a:pPr algn="l">
              <a:spcBef>
                <a:spcPts val="0"/>
              </a:spcBef>
              <a:spcAft>
                <a:spcPts val="100"/>
              </a:spcAft>
            </a:pPr>
            <a:r>
              <a:rPr sz="1300" b="0" i="0">
                <a:solidFill>
                  <a:srgbClr val="1B2838"/>
                </a:solidFill>
                <a:latin typeface="Cambria"/>
                <a:ea typeface="Cambria"/>
                <a:cs typeface="Cambria"/>
              </a:rPr>
              <a:t>Bloom 80%</a:t>
            </a:r>
          </a:p>
        </p:txBody>
      </p:sp>
      <p:sp>
        <p:nvSpPr>
          <p:cNvPr id="37" name="TextBox 36"/>
          <p:cNvSpPr txBox="1"/>
          <p:nvPr/>
        </p:nvSpPr>
        <p:spPr>
          <a:xfrm>
            <a:off x="2953512" y="4599432"/>
            <a:ext cx="2889503"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Mastery is earned. Time watched is not progress.</a:t>
            </a:r>
          </a:p>
        </p:txBody>
      </p:sp>
      <p:sp>
        <p:nvSpPr>
          <p:cNvPr id="38" name="TextBox 37"/>
          <p:cNvSpPr txBox="1"/>
          <p:nvPr/>
        </p:nvSpPr>
        <p:spPr>
          <a:xfrm>
            <a:off x="6062472" y="4599432"/>
            <a:ext cx="2340864"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Fluency drill lock</a:t>
            </a:r>
          </a:p>
        </p:txBody>
      </p:sp>
      <p:sp>
        <p:nvSpPr>
          <p:cNvPr id="39" name="TextBox 38"/>
          <p:cNvSpPr txBox="1"/>
          <p:nvPr/>
        </p:nvSpPr>
        <p:spPr>
          <a:xfrm>
            <a:off x="8622792" y="4599432"/>
            <a:ext cx="3090672"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Step 10 stays closed until drill hits 80%</a:t>
            </a:r>
          </a:p>
        </p:txBody>
      </p:sp>
      <p:sp>
        <p:nvSpPr>
          <p:cNvPr id="40" name="Rectangle 39"/>
          <p:cNvSpPr/>
          <p:nvPr/>
        </p:nvSpPr>
        <p:spPr>
          <a:xfrm>
            <a:off x="411480" y="5157216"/>
            <a:ext cx="1133856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4632" y="5202936"/>
            <a:ext cx="2286000" cy="530352"/>
          </a:xfrm>
          <a:prstGeom prst="rect">
            <a:avLst/>
          </a:prstGeom>
          <a:noFill/>
        </p:spPr>
        <p:txBody>
          <a:bodyPr wrap="square"/>
          <a:lstStyle/>
          <a:p>
            <a:pPr algn="l">
              <a:spcBef>
                <a:spcPts val="0"/>
              </a:spcBef>
              <a:spcAft>
                <a:spcPts val="100"/>
              </a:spcAft>
            </a:pPr>
            <a:r>
              <a:rPr sz="1300" b="1" i="0">
                <a:solidFill>
                  <a:srgbClr val="1B2838"/>
                </a:solidFill>
                <a:latin typeface="Cambria"/>
                <a:ea typeface="Cambria"/>
                <a:cs typeface="Cambria"/>
              </a:rPr>
              <a:t>Cognitive</a:t>
            </a:r>
          </a:p>
          <a:p>
            <a:pPr algn="l">
              <a:spcBef>
                <a:spcPts val="0"/>
              </a:spcBef>
              <a:spcAft>
                <a:spcPts val="100"/>
              </a:spcAft>
            </a:pPr>
            <a:r>
              <a:rPr sz="1300" b="0" i="0">
                <a:solidFill>
                  <a:srgbClr val="1B2838"/>
                </a:solidFill>
                <a:latin typeface="Cambria"/>
                <a:ea typeface="Cambria"/>
                <a:cs typeface="Cambria"/>
              </a:rPr>
              <a:t>apprenticeship</a:t>
            </a:r>
          </a:p>
        </p:txBody>
      </p:sp>
      <p:sp>
        <p:nvSpPr>
          <p:cNvPr id="42" name="TextBox 41"/>
          <p:cNvSpPr txBox="1"/>
          <p:nvPr/>
        </p:nvSpPr>
        <p:spPr>
          <a:xfrm>
            <a:off x="2953512" y="5202936"/>
            <a:ext cx="2889503"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Tutor on demand, never the lesson itself.</a:t>
            </a:r>
          </a:p>
        </p:txBody>
      </p:sp>
      <p:sp>
        <p:nvSpPr>
          <p:cNvPr id="43" name="TextBox 42"/>
          <p:cNvSpPr txBox="1"/>
          <p:nvPr/>
        </p:nvSpPr>
        <p:spPr>
          <a:xfrm>
            <a:off x="6062472" y="5202936"/>
            <a:ext cx="2340864"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Groq proxy +</a:t>
            </a:r>
          </a:p>
          <a:p>
            <a:pPr algn="l">
              <a:spcBef>
                <a:spcPts val="0"/>
              </a:spcBef>
              <a:spcAft>
                <a:spcPts val="100"/>
              </a:spcAft>
            </a:pPr>
            <a:r>
              <a:rPr sz="1300" b="0" i="0">
                <a:solidFill>
                  <a:srgbClr val="1B2838"/>
                </a:solidFill>
                <a:latin typeface="Cambria"/>
                <a:ea typeface="Cambria"/>
                <a:cs typeface="Cambria"/>
              </a:rPr>
              <a:t>local fallback</a:t>
            </a:r>
          </a:p>
        </p:txBody>
      </p:sp>
      <p:sp>
        <p:nvSpPr>
          <p:cNvPr id="44" name="TextBox 43"/>
          <p:cNvSpPr txBox="1"/>
          <p:nvPr/>
        </p:nvSpPr>
        <p:spPr>
          <a:xfrm>
            <a:off x="8622792" y="5202936"/>
            <a:ext cx="3090672" cy="530352"/>
          </a:xfrm>
          <a:prstGeom prst="rect">
            <a:avLst/>
          </a:prstGeom>
          <a:noFill/>
        </p:spPr>
        <p:txBody>
          <a:bodyPr wrap="square"/>
          <a:lstStyle/>
          <a:p>
            <a:pPr algn="l">
              <a:spcBef>
                <a:spcPts val="0"/>
              </a:spcBef>
              <a:spcAft>
                <a:spcPts val="100"/>
              </a:spcAft>
            </a:pPr>
            <a:r>
              <a:rPr sz="1300" b="0" i="0">
                <a:solidFill>
                  <a:srgbClr val="1B2838"/>
                </a:solidFill>
                <a:latin typeface="Cambria"/>
                <a:ea typeface="Cambria"/>
                <a:cs typeface="Cambria"/>
              </a:rPr>
              <a:t>Socratic chat; canvas and book remain the truth</a:t>
            </a:r>
          </a:p>
        </p:txBody>
      </p:sp>
      <p:sp>
        <p:nvSpPr>
          <p:cNvPr id="45" name="TextBox 44"/>
          <p:cNvSpPr txBox="1"/>
          <p:nvPr/>
        </p:nvSpPr>
        <p:spPr>
          <a:xfrm>
            <a:off x="502920" y="5833872"/>
            <a:ext cx="11155680" cy="457200"/>
          </a:xfrm>
          <a:prstGeom prst="rect">
            <a:avLst/>
          </a:prstGeom>
          <a:noFill/>
        </p:spPr>
        <p:txBody>
          <a:bodyPr wrap="square" anchor="t"/>
          <a:lstStyle/>
          <a:p>
            <a:pPr algn="l">
              <a:spcBef>
                <a:spcPts val="0"/>
              </a:spcBef>
              <a:spcAft>
                <a:spcPts val="0"/>
              </a:spcAft>
            </a:pPr>
            <a:r>
              <a:rPr sz="1300" b="0" i="1">
                <a:solidFill>
                  <a:srgbClr val="5C6B7A"/>
                </a:solidFill>
                <a:latin typeface="Cambria"/>
                <a:ea typeface="Cambria"/>
                <a:cs typeface="Cambria"/>
              </a:rPr>
              <a:t>Gee (2007): the game is the literacy, not a wrapper around a quiz. Honest limit: Flow Autopilot is streak-based, not a full adaptive engine.</a:t>
            </a:r>
          </a:p>
        </p:txBody>
      </p:sp>
      <p:sp>
        <p:nvSpPr>
          <p:cNvPr id="46" name="TextBox 45"/>
          <p:cNvSpPr txBox="1"/>
          <p:nvPr/>
        </p:nvSpPr>
        <p:spPr>
          <a:xfrm>
            <a:off x="502920" y="6565392"/>
            <a:ext cx="9601200" cy="237744"/>
          </a:xfrm>
          <a:prstGeom prst="rect">
            <a:avLst/>
          </a:prstGeom>
          <a:noFill/>
        </p:spPr>
        <p:txBody>
          <a:bodyPr wrap="square" anchor="t"/>
          <a:lstStyle/>
          <a:p>
            <a:pPr algn="l">
              <a:spcBef>
                <a:spcPts val="0"/>
              </a:spcBef>
              <a:spcAft>
                <a:spcPts val="0"/>
              </a:spcAft>
            </a:pPr>
            <a:r>
              <a:rPr sz="1100" b="0" i="0">
                <a:solidFill>
                  <a:srgbClr val="5C6B7A"/>
                </a:solidFill>
                <a:latin typeface="Cambria"/>
                <a:ea typeface="Cambria"/>
                <a:cs typeface="Cambria"/>
              </a:rPr>
              <a:t>BrainChild 2.0  ·  Team Alpha  ·  University of Frontier Technology, Bangladesh</a:t>
            </a:r>
          </a:p>
        </p:txBody>
      </p:sp>
      <p:sp>
        <p:nvSpPr>
          <p:cNvPr id="47" name="TextBox 46"/>
          <p:cNvSpPr txBox="1"/>
          <p:nvPr/>
        </p:nvSpPr>
        <p:spPr>
          <a:xfrm>
            <a:off x="10469880" y="6565392"/>
            <a:ext cx="1188720" cy="237744"/>
          </a:xfrm>
          <a:prstGeom prst="rect">
            <a:avLst/>
          </a:prstGeom>
          <a:noFill/>
        </p:spPr>
        <p:txBody>
          <a:bodyPr wrap="square" anchor="t"/>
          <a:lstStyle/>
          <a:p>
            <a:pPr algn="r">
              <a:spcBef>
                <a:spcPts val="0"/>
              </a:spcBef>
              <a:spcAft>
                <a:spcPts val="0"/>
              </a:spcAft>
            </a:pPr>
            <a:r>
              <a:rPr sz="1100" b="0" i="0">
                <a:solidFill>
                  <a:srgbClr val="5C6B7A"/>
                </a:solidFill>
                <a:latin typeface="Cambria"/>
                <a:ea typeface="Cambria"/>
                <a:cs typeface="Cambria"/>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56032"/>
          </a:xfrm>
          <a:prstGeom prst="rect">
            <a:avLst/>
          </a:prstGeom>
          <a:noFill/>
        </p:spPr>
        <p:txBody>
          <a:bodyPr wrap="square" anchor="t"/>
          <a:lstStyle/>
          <a:p>
            <a:pPr algn="l">
              <a:spcBef>
                <a:spcPts val="0"/>
              </a:spcBef>
              <a:spcAft>
                <a:spcPts val="0"/>
              </a:spcAft>
            </a:pPr>
            <a:r>
              <a:rPr sz="1200" b="1" i="0">
                <a:solidFill>
                  <a:srgbClr val="5C6B7A"/>
                </a:solidFill>
                <a:latin typeface="Cambria"/>
                <a:ea typeface="Cambria"/>
                <a:cs typeface="Cambria"/>
              </a:rPr>
              <a:t>LEARNING FLOW</a:t>
            </a:r>
          </a:p>
        </p:txBody>
      </p:sp>
      <p:sp>
        <p:nvSpPr>
          <p:cNvPr id="4" name="TextBox 3"/>
          <p:cNvSpPr txBox="1"/>
          <p:nvPr/>
        </p:nvSpPr>
        <p:spPr>
          <a:xfrm>
            <a:off x="502920" y="502920"/>
            <a:ext cx="11155680" cy="777240"/>
          </a:xfrm>
          <a:prstGeom prst="rect">
            <a:avLst/>
          </a:prstGeom>
          <a:noFill/>
        </p:spPr>
        <p:txBody>
          <a:bodyPr wrap="square" anchor="t"/>
          <a:lstStyle/>
          <a:p>
            <a:pPr algn="l">
              <a:spcBef>
                <a:spcPts val="0"/>
              </a:spcBef>
              <a:spcAft>
                <a:spcPts val="0"/>
              </a:spcAft>
            </a:pPr>
            <a:r>
              <a:rPr sz="3200" b="1" i="0">
                <a:solidFill>
                  <a:srgbClr val="1E3A5F"/>
                </a:solidFill>
                <a:latin typeface="Georgia"/>
                <a:ea typeface="Georgia"/>
                <a:cs typeface="Georgia"/>
              </a:rPr>
              <a:t>Bruner’s spiral sits inside a locked cycle.</a:t>
            </a:r>
          </a:p>
        </p:txBody>
      </p:sp>
      <p:sp>
        <p:nvSpPr>
          <p:cNvPr id="5" name="Rectangle 4"/>
          <p:cNvSpPr/>
          <p:nvPr/>
        </p:nvSpPr>
        <p:spPr>
          <a:xfrm>
            <a:off x="502920" y="1463040"/>
            <a:ext cx="1783080"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55648"/>
            <a:ext cx="1783080" cy="502920"/>
          </a:xfrm>
          <a:prstGeom prst="rect">
            <a:avLst/>
          </a:prstGeom>
          <a:noFill/>
        </p:spPr>
        <p:txBody>
          <a:bodyPr wrap="square" anchor="ctr"/>
          <a:lstStyle/>
          <a:p>
            <a:pPr algn="ctr">
              <a:spcBef>
                <a:spcPts val="0"/>
              </a:spcBef>
              <a:spcAft>
                <a:spcPts val="0"/>
              </a:spcAft>
            </a:pPr>
            <a:r>
              <a:rPr sz="1600" b="1" i="0">
                <a:solidFill>
                  <a:srgbClr val="F4EBD0"/>
                </a:solidFill>
                <a:latin typeface="Georgia"/>
                <a:ea typeface="Georgia"/>
                <a:cs typeface="Georgia"/>
              </a:rPr>
              <a:t>Recall</a:t>
            </a:r>
          </a:p>
        </p:txBody>
      </p:sp>
      <p:sp>
        <p:nvSpPr>
          <p:cNvPr id="7" name="Rectangle 6"/>
          <p:cNvSpPr/>
          <p:nvPr/>
        </p:nvSpPr>
        <p:spPr>
          <a:xfrm>
            <a:off x="2441448" y="1463040"/>
            <a:ext cx="1783080"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41448" y="1755648"/>
            <a:ext cx="1783080" cy="502920"/>
          </a:xfrm>
          <a:prstGeom prst="rect">
            <a:avLst/>
          </a:prstGeom>
          <a:noFill/>
        </p:spPr>
        <p:txBody>
          <a:bodyPr wrap="square" anchor="ctr"/>
          <a:lstStyle/>
          <a:p>
            <a:pPr algn="ctr">
              <a:spcBef>
                <a:spcPts val="0"/>
              </a:spcBef>
              <a:spcAft>
                <a:spcPts val="0"/>
              </a:spcAft>
            </a:pPr>
            <a:r>
              <a:rPr sz="1600" b="1" i="0">
                <a:solidFill>
                  <a:srgbClr val="F4EBD0"/>
                </a:solidFill>
                <a:latin typeface="Georgia"/>
                <a:ea typeface="Georgia"/>
                <a:cs typeface="Georgia"/>
              </a:rPr>
              <a:t>Predict</a:t>
            </a:r>
          </a:p>
        </p:txBody>
      </p:sp>
      <p:sp>
        <p:nvSpPr>
          <p:cNvPr id="9" name="Rectangle 8"/>
          <p:cNvSpPr/>
          <p:nvPr/>
        </p:nvSpPr>
        <p:spPr>
          <a:xfrm>
            <a:off x="4379976" y="1463040"/>
            <a:ext cx="1783080"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79976" y="1755648"/>
            <a:ext cx="1783080" cy="502920"/>
          </a:xfrm>
          <a:prstGeom prst="rect">
            <a:avLst/>
          </a:prstGeom>
          <a:noFill/>
        </p:spPr>
        <p:txBody>
          <a:bodyPr wrap="square" anchor="ctr"/>
          <a:lstStyle/>
          <a:p>
            <a:pPr algn="ctr">
              <a:spcBef>
                <a:spcPts val="0"/>
              </a:spcBef>
              <a:spcAft>
                <a:spcPts val="0"/>
              </a:spcAft>
            </a:pPr>
            <a:r>
              <a:rPr sz="1600" b="1" i="0">
                <a:solidFill>
                  <a:srgbClr val="F4EBD0"/>
                </a:solidFill>
                <a:latin typeface="Georgia"/>
                <a:ea typeface="Georgia"/>
                <a:cs typeface="Georgia"/>
              </a:rPr>
              <a:t>Act</a:t>
            </a:r>
          </a:p>
        </p:txBody>
      </p:sp>
      <p:sp>
        <p:nvSpPr>
          <p:cNvPr id="11" name="Rectangle 10"/>
          <p:cNvSpPr/>
          <p:nvPr/>
        </p:nvSpPr>
        <p:spPr>
          <a:xfrm>
            <a:off x="6318504" y="1463040"/>
            <a:ext cx="1783080"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18504" y="1755648"/>
            <a:ext cx="1783080" cy="502920"/>
          </a:xfrm>
          <a:prstGeom prst="rect">
            <a:avLst/>
          </a:prstGeom>
          <a:noFill/>
        </p:spPr>
        <p:txBody>
          <a:bodyPr wrap="square" anchor="ctr"/>
          <a:lstStyle/>
          <a:p>
            <a:pPr algn="ctr">
              <a:spcBef>
                <a:spcPts val="0"/>
              </a:spcBef>
              <a:spcAft>
                <a:spcPts val="0"/>
              </a:spcAft>
            </a:pPr>
            <a:r>
              <a:rPr sz="1600" b="1" i="0">
                <a:solidFill>
                  <a:srgbClr val="F4EBD0"/>
                </a:solidFill>
                <a:latin typeface="Georgia"/>
                <a:ea typeface="Georgia"/>
                <a:cs typeface="Georgia"/>
              </a:rPr>
              <a:t>Feedback</a:t>
            </a:r>
          </a:p>
        </p:txBody>
      </p:sp>
      <p:sp>
        <p:nvSpPr>
          <p:cNvPr id="13" name="Rectangle 12"/>
          <p:cNvSpPr/>
          <p:nvPr/>
        </p:nvSpPr>
        <p:spPr>
          <a:xfrm>
            <a:off x="8257032" y="1463040"/>
            <a:ext cx="1783080" cy="1051560"/>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1755648"/>
            <a:ext cx="1783080" cy="502920"/>
          </a:xfrm>
          <a:prstGeom prst="rect">
            <a:avLst/>
          </a:prstGeom>
          <a:noFill/>
        </p:spPr>
        <p:txBody>
          <a:bodyPr wrap="square" anchor="ctr"/>
          <a:lstStyle/>
          <a:p>
            <a:pPr algn="ctr">
              <a:spcBef>
                <a:spcPts val="0"/>
              </a:spcBef>
              <a:spcAft>
                <a:spcPts val="0"/>
              </a:spcAft>
            </a:pPr>
            <a:r>
              <a:rPr sz="1600" b="1" i="0">
                <a:solidFill>
                  <a:srgbClr val="1E3A5F"/>
                </a:solidFill>
                <a:latin typeface="Georgia"/>
                <a:ea typeface="Georgia"/>
                <a:cs typeface="Georgia"/>
              </a:rPr>
              <a:t>80% fluency</a:t>
            </a:r>
          </a:p>
        </p:txBody>
      </p:sp>
      <p:sp>
        <p:nvSpPr>
          <p:cNvPr id="15" name="Rectangle 14"/>
          <p:cNvSpPr/>
          <p:nvPr/>
        </p:nvSpPr>
        <p:spPr>
          <a:xfrm>
            <a:off x="10195560" y="1463040"/>
            <a:ext cx="1783080"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95560" y="1755648"/>
            <a:ext cx="1783080" cy="502920"/>
          </a:xfrm>
          <a:prstGeom prst="rect">
            <a:avLst/>
          </a:prstGeom>
          <a:noFill/>
        </p:spPr>
        <p:txBody>
          <a:bodyPr wrap="square" anchor="ctr"/>
          <a:lstStyle/>
          <a:p>
            <a:pPr algn="ctr">
              <a:spcBef>
                <a:spcPts val="0"/>
              </a:spcBef>
              <a:spcAft>
                <a:spcPts val="0"/>
              </a:spcAft>
            </a:pPr>
            <a:r>
              <a:rPr sz="1600" b="1" i="0">
                <a:solidFill>
                  <a:srgbClr val="F4EBD0"/>
                </a:solidFill>
                <a:latin typeface="Georgia"/>
                <a:ea typeface="Georgia"/>
                <a:cs typeface="Georgia"/>
              </a:rPr>
              <a:t>Mastery</a:t>
            </a:r>
          </a:p>
        </p:txBody>
      </p:sp>
      <p:sp>
        <p:nvSpPr>
          <p:cNvPr id="17" name="TextBox 16"/>
          <p:cNvSpPr txBox="1"/>
          <p:nvPr/>
        </p:nvSpPr>
        <p:spPr>
          <a:xfrm>
            <a:off x="502920" y="2743200"/>
            <a:ext cx="11155680" cy="365760"/>
          </a:xfrm>
          <a:prstGeom prst="rect">
            <a:avLst/>
          </a:prstGeom>
          <a:noFill/>
        </p:spPr>
        <p:txBody>
          <a:bodyPr wrap="square" anchor="t"/>
          <a:lstStyle/>
          <a:p>
            <a:pPr algn="l">
              <a:spcBef>
                <a:spcPts val="0"/>
              </a:spcBef>
              <a:spcAft>
                <a:spcPts val="0"/>
              </a:spcAft>
            </a:pPr>
            <a:r>
              <a:rPr sz="1500" b="0" i="1">
                <a:solidFill>
                  <a:srgbClr val="5C6B7A"/>
                </a:solidFill>
                <a:latin typeface="Cambria"/>
                <a:ea typeface="Cambria"/>
                <a:cs typeface="Cambria"/>
              </a:rPr>
              <a:t>Ten steps inside each topic (Force Fighter pattern)</a:t>
            </a:r>
          </a:p>
        </p:txBody>
      </p:sp>
      <p:sp>
        <p:nvSpPr>
          <p:cNvPr id="18" name="TextBox 17"/>
          <p:cNvSpPr txBox="1"/>
          <p:nvPr/>
        </p:nvSpPr>
        <p:spPr>
          <a:xfrm>
            <a:off x="502920" y="3108960"/>
            <a:ext cx="11155680" cy="640080"/>
          </a:xfrm>
          <a:prstGeom prst="rect">
            <a:avLst/>
          </a:prstGeom>
          <a:noFill/>
        </p:spPr>
        <p:txBody>
          <a:bodyPr wrap="square" anchor="t"/>
          <a:lstStyle/>
          <a:p>
            <a:pPr algn="l">
              <a:spcBef>
                <a:spcPts val="0"/>
              </a:spcBef>
              <a:spcAft>
                <a:spcPts val="0"/>
              </a:spcAft>
            </a:pPr>
            <a:r>
              <a:rPr sz="1600" b="0" i="0">
                <a:solidFill>
                  <a:srgbClr val="1B2838"/>
                </a:solidFill>
                <a:latin typeface="Cambria"/>
                <a:ea typeface="Cambria"/>
                <a:cs typeface="Cambria"/>
              </a:rPr>
              <a:t>Hook  ·  Watch  ·  Sort  ·  Try  ·  Explain  ·  Name the rule  ·  Stretch  ·  Myth-bust  ·  Fluency  ·  Mastery</a:t>
            </a:r>
          </a:p>
        </p:txBody>
      </p:sp>
      <p:sp>
        <p:nvSpPr>
          <p:cNvPr id="19" name="Rectangle 18"/>
          <p:cNvSpPr/>
          <p:nvPr/>
        </p:nvSpPr>
        <p:spPr>
          <a:xfrm>
            <a:off x="502920" y="3931920"/>
            <a:ext cx="11173968" cy="2286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114800"/>
            <a:ext cx="10698480" cy="1920240"/>
          </a:xfrm>
          <a:prstGeom prst="rect">
            <a:avLst/>
          </a:prstGeom>
          <a:noFill/>
        </p:spPr>
        <p:txBody>
          <a:bodyPr wrap="square" anchor="t"/>
          <a:lstStyle/>
          <a:p>
            <a:pPr algn="l">
              <a:spcBef>
                <a:spcPts val="0"/>
              </a:spcBef>
              <a:spcAft>
                <a:spcPts val="0"/>
              </a:spcAft>
            </a:pPr>
            <a:r>
              <a:rPr sz="1800" b="0" i="0">
                <a:solidFill>
                  <a:srgbClr val="1B2838"/>
                </a:solidFill>
                <a:latin typeface="Cambria"/>
                <a:ea typeface="Cambria"/>
                <a:cs typeface="Cambria"/>
              </a:rPr>
              <a:t>Bruner in that list: Try is enactive. Watch, chips, and Specimen Lab are iconic. Name the rule and the fluency drill are symbolic. Mastery stays locked until the drill is earned. That is a product rule, not a slogan.</a:t>
            </a:r>
          </a:p>
        </p:txBody>
      </p:sp>
      <p:sp>
        <p:nvSpPr>
          <p:cNvPr id="21" name="TextBox 20"/>
          <p:cNvSpPr txBox="1"/>
          <p:nvPr/>
        </p:nvSpPr>
        <p:spPr>
          <a:xfrm>
            <a:off x="502920" y="6565392"/>
            <a:ext cx="9601200" cy="237744"/>
          </a:xfrm>
          <a:prstGeom prst="rect">
            <a:avLst/>
          </a:prstGeom>
          <a:noFill/>
        </p:spPr>
        <p:txBody>
          <a:bodyPr wrap="square" anchor="t"/>
          <a:lstStyle/>
          <a:p>
            <a:pPr algn="l">
              <a:spcBef>
                <a:spcPts val="0"/>
              </a:spcBef>
              <a:spcAft>
                <a:spcPts val="0"/>
              </a:spcAft>
            </a:pPr>
            <a:r>
              <a:rPr sz="1100" b="0" i="0">
                <a:solidFill>
                  <a:srgbClr val="5C6B7A"/>
                </a:solidFill>
                <a:latin typeface="Cambria"/>
                <a:ea typeface="Cambria"/>
                <a:cs typeface="Cambria"/>
              </a:rPr>
              <a:t>BrainChild 2.0  ·  Team Alpha  ·  University of Frontier Technology, Bangladesh</a:t>
            </a:r>
          </a:p>
        </p:txBody>
      </p:sp>
      <p:sp>
        <p:nvSpPr>
          <p:cNvPr id="22" name="TextBox 21"/>
          <p:cNvSpPr txBox="1"/>
          <p:nvPr/>
        </p:nvSpPr>
        <p:spPr>
          <a:xfrm>
            <a:off x="10469880" y="6565392"/>
            <a:ext cx="1188720" cy="237744"/>
          </a:xfrm>
          <a:prstGeom prst="rect">
            <a:avLst/>
          </a:prstGeom>
          <a:noFill/>
        </p:spPr>
        <p:txBody>
          <a:bodyPr wrap="square" anchor="t"/>
          <a:lstStyle/>
          <a:p>
            <a:pPr algn="r">
              <a:spcBef>
                <a:spcPts val="0"/>
              </a:spcBef>
              <a:spcAft>
                <a:spcPts val="0"/>
              </a:spcAft>
            </a:pPr>
            <a:r>
              <a:rPr sz="1100" b="0" i="0">
                <a:solidFill>
                  <a:srgbClr val="5C6B7A"/>
                </a:solidFill>
                <a:latin typeface="Cambria"/>
                <a:ea typeface="Cambria"/>
                <a:cs typeface="Cambria"/>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91640"/>
            <a:ext cx="10972800" cy="320040"/>
          </a:xfrm>
          <a:prstGeom prst="rect">
            <a:avLst/>
          </a:prstGeom>
          <a:noFill/>
        </p:spPr>
        <p:txBody>
          <a:bodyPr wrap="square" anchor="t"/>
          <a:lstStyle/>
          <a:p>
            <a:pPr algn="l">
              <a:spcBef>
                <a:spcPts val="0"/>
              </a:spcBef>
              <a:spcAft>
                <a:spcPts val="0"/>
              </a:spcAft>
            </a:pPr>
            <a:r>
              <a:rPr sz="1400" b="1" i="0">
                <a:solidFill>
                  <a:srgbClr val="C4A35A"/>
                </a:solidFill>
                <a:latin typeface="Cambria"/>
                <a:ea typeface="Cambria"/>
                <a:cs typeface="Cambria"/>
              </a:rPr>
              <a:t>BRAINCHILD 2.0  ·  TEAM ALPHA</a:t>
            </a:r>
          </a:p>
        </p:txBody>
      </p:sp>
      <p:sp>
        <p:nvSpPr>
          <p:cNvPr id="4" name="TextBox 3"/>
          <p:cNvSpPr txBox="1"/>
          <p:nvPr/>
        </p:nvSpPr>
        <p:spPr>
          <a:xfrm>
            <a:off x="640080" y="2057400"/>
            <a:ext cx="10972800" cy="1051560"/>
          </a:xfrm>
          <a:prstGeom prst="rect">
            <a:avLst/>
          </a:prstGeom>
          <a:noFill/>
        </p:spPr>
        <p:txBody>
          <a:bodyPr wrap="square" anchor="t"/>
          <a:lstStyle/>
          <a:p>
            <a:pPr algn="l">
              <a:spcBef>
                <a:spcPts val="0"/>
              </a:spcBef>
              <a:spcAft>
                <a:spcPts val="0"/>
              </a:spcAft>
            </a:pPr>
            <a:r>
              <a:rPr sz="4800" b="1" i="0">
                <a:solidFill>
                  <a:srgbClr val="F4EBD0"/>
                </a:solidFill>
                <a:latin typeface="Georgia"/>
                <a:ea typeface="Georgia"/>
                <a:cs typeface="Georgia"/>
              </a:rPr>
              <a:t>Demo starts here.</a:t>
            </a:r>
          </a:p>
        </p:txBody>
      </p:sp>
      <p:sp>
        <p:nvSpPr>
          <p:cNvPr id="5" name="TextBox 4"/>
          <p:cNvSpPr txBox="1"/>
          <p:nvPr/>
        </p:nvSpPr>
        <p:spPr>
          <a:xfrm>
            <a:off x="640080" y="3246120"/>
            <a:ext cx="10972800" cy="1234440"/>
          </a:xfrm>
          <a:prstGeom prst="rect">
            <a:avLst/>
          </a:prstGeom>
          <a:noFill/>
        </p:spPr>
        <p:txBody>
          <a:bodyPr wrap="square" anchor="t"/>
          <a:lstStyle/>
          <a:p>
            <a:pPr algn="l">
              <a:spcBef>
                <a:spcPts val="0"/>
              </a:spcBef>
              <a:spcAft>
                <a:spcPts val="0"/>
              </a:spcAft>
            </a:pPr>
            <a:r>
              <a:rPr sz="2200" b="0" i="0">
                <a:solidFill>
                  <a:srgbClr val="FFFFFF"/>
                </a:solidFill>
                <a:latin typeface="Cambria"/>
                <a:ea typeface="Cambria"/>
                <a:cs typeface="Cambria"/>
              </a:rPr>
              <a:t>Play one 2D mission through the spiral. Open Specimen Lab and tap a pin. Switch English / Bangla.</a:t>
            </a:r>
          </a:p>
        </p:txBody>
      </p:sp>
      <p:sp>
        <p:nvSpPr>
          <p:cNvPr id="6" name="TextBox 5"/>
          <p:cNvSpPr txBox="1"/>
          <p:nvPr/>
        </p:nvSpPr>
        <p:spPr>
          <a:xfrm>
            <a:off x="640080" y="4709160"/>
            <a:ext cx="10972800" cy="640080"/>
          </a:xfrm>
          <a:prstGeom prst="rect">
            <a:avLst/>
          </a:prstGeom>
          <a:noFill/>
        </p:spPr>
        <p:txBody>
          <a:bodyPr wrap="square" anchor="t"/>
          <a:lstStyle/>
          <a:p>
            <a:pPr algn="l">
              <a:spcBef>
                <a:spcPts val="0"/>
              </a:spcBef>
              <a:spcAft>
                <a:spcPts val="0"/>
              </a:spcAft>
            </a:pPr>
            <a:r>
              <a:rPr sz="1600" b="0" i="1">
                <a:solidFill>
                  <a:srgbClr val="A8B4C0"/>
                </a:solidFill>
                <a:latin typeface="Cambria"/>
                <a:ea typeface="Cambria"/>
                <a:cs typeface="Cambria"/>
              </a:rPr>
              <a:t>Canvas and book stay the source of truth. The tutor is optional.</a:t>
            </a:r>
          </a:p>
        </p:txBody>
      </p:sp>
      <p:sp>
        <p:nvSpPr>
          <p:cNvPr id="7" name="TextBox 6"/>
          <p:cNvSpPr txBox="1"/>
          <p:nvPr/>
        </p:nvSpPr>
        <p:spPr>
          <a:xfrm>
            <a:off x="502920" y="6565392"/>
            <a:ext cx="9601200" cy="237744"/>
          </a:xfrm>
          <a:prstGeom prst="rect">
            <a:avLst/>
          </a:prstGeom>
          <a:noFill/>
        </p:spPr>
        <p:txBody>
          <a:bodyPr wrap="square" anchor="t"/>
          <a:lstStyle/>
          <a:p>
            <a:pPr algn="l">
              <a:spcBef>
                <a:spcPts val="0"/>
              </a:spcBef>
              <a:spcAft>
                <a:spcPts val="0"/>
              </a:spcAft>
            </a:pPr>
            <a:r>
              <a:rPr sz="1100" b="0" i="0">
                <a:solidFill>
                  <a:srgbClr val="A8B4C0"/>
                </a:solidFill>
                <a:latin typeface="Cambria"/>
                <a:ea typeface="Cambria"/>
                <a:cs typeface="Cambria"/>
              </a:rPr>
              <a:t>BrainChild 2.0  ·  Team Alpha  ·  University of Frontier Technology, Bangladesh</a:t>
            </a:r>
          </a:p>
        </p:txBody>
      </p:sp>
      <p:sp>
        <p:nvSpPr>
          <p:cNvPr id="8" name="TextBox 7"/>
          <p:cNvSpPr txBox="1"/>
          <p:nvPr/>
        </p:nvSpPr>
        <p:spPr>
          <a:xfrm>
            <a:off x="10469880" y="6565392"/>
            <a:ext cx="1188720" cy="237744"/>
          </a:xfrm>
          <a:prstGeom prst="rect">
            <a:avLst/>
          </a:prstGeom>
          <a:noFill/>
        </p:spPr>
        <p:txBody>
          <a:bodyPr wrap="square" anchor="t"/>
          <a:lstStyle/>
          <a:p>
            <a:pPr algn="r">
              <a:spcBef>
                <a:spcPts val="0"/>
              </a:spcBef>
              <a:spcAft>
                <a:spcPts val="0"/>
              </a:spcAft>
            </a:pPr>
            <a:r>
              <a:rPr sz="1100" b="0" i="0">
                <a:solidFill>
                  <a:srgbClr val="A8B4C0"/>
                </a:solidFill>
                <a:latin typeface="Cambria"/>
                <a:ea typeface="Cambria"/>
                <a:cs typeface="Cambria"/>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GyanQuest · BrainChild 2.0</dc:title>
  <dc:subject>Pitch deck. Source: GyanQuest_Project_Report.pdf</dc:subject>
  <dc:creator>Team Alpha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BrainChild 2.0</cp:category>
</cp:coreProperties>
</file>